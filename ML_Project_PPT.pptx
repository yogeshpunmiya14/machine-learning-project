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6" r:id="rId22"/>
    <p:sldId id="278" r:id="rId23"/>
    <p:sldId id="279" r:id="rId24"/>
    <p:sldId id="28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25"/>
    <p:restoredTop sz="94661"/>
  </p:normalViewPr>
  <p:slideViewPr>
    <p:cSldViewPr snapToGrid="0" snapToObjects="1">
      <p:cViewPr varScale="1">
        <p:scale>
          <a:sx n="114" d="100"/>
          <a:sy n="114" d="100"/>
        </p:scale>
        <p:origin x="40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7D114-5AF0-5A4B-9653-438CEEFEA86A}" type="datetimeFigureOut">
              <a:rPr lang="en-US" smtClean="0"/>
              <a:t>12/18/25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C31AD7-18D2-164B-A339-9CB63665F36A}" type="slidenum">
              <a:rPr lang="en-US" smtClean="0"/>
              <a:t>‹#›</a:t>
            </a:fld>
            <a:endParaRPr lang="en-US"/>
          </a:p>
        </p:txBody>
      </p:sp>
    </p:spTree>
    <p:extLst>
      <p:ext uri="{BB962C8B-B14F-4D97-AF65-F5344CB8AC3E}">
        <p14:creationId xmlns:p14="http://schemas.microsoft.com/office/powerpoint/2010/main" val="3485419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963930" y="1050595"/>
            <a:ext cx="6056111" cy="1618489"/>
          </a:xfrm>
        </p:spPr>
        <p:txBody>
          <a:bodyPr vert="horz" lIns="91440" tIns="45720" rIns="91440" bIns="45720" rtlCol="0" anchor="ctr">
            <a:normAutofit/>
          </a:bodyPr>
          <a:lstStyle/>
          <a:p>
            <a:pPr algn="l" defTabSz="914400">
              <a:lnSpc>
                <a:spcPct val="90000"/>
              </a:lnSpc>
            </a:pPr>
            <a:r>
              <a:rPr lang="en-US" sz="5400" kern="1200">
                <a:solidFill>
                  <a:schemeClr val="tx1"/>
                </a:solidFill>
                <a:latin typeface="+mj-lt"/>
                <a:ea typeface="+mj-ea"/>
                <a:cs typeface="+mj-cs"/>
              </a:rPr>
              <a:t>Machine Learning Final Project</a:t>
            </a:r>
          </a:p>
        </p:txBody>
      </p:sp>
      <p:sp>
        <p:nvSpPr>
          <p:cNvPr id="3" name="Subtitle 2"/>
          <p:cNvSpPr>
            <a:spLocks noGrp="1"/>
          </p:cNvSpPr>
          <p:nvPr>
            <p:ph type="subTitle" idx="1"/>
          </p:nvPr>
        </p:nvSpPr>
        <p:spPr>
          <a:xfrm>
            <a:off x="963930" y="2969469"/>
            <a:ext cx="6056111" cy="2800395"/>
          </a:xfrm>
        </p:spPr>
        <p:txBody>
          <a:bodyPr vert="horz" lIns="91440" tIns="45720" rIns="91440" bIns="45720" rtlCol="0" anchor="t">
            <a:normAutofit/>
          </a:bodyPr>
          <a:lstStyle/>
          <a:p>
            <a:pPr indent="-228600" algn="l" defTabSz="914400">
              <a:lnSpc>
                <a:spcPct val="90000"/>
              </a:lnSpc>
              <a:buFont typeface="Arial" panose="020B0604020202020204" pitchFamily="34" charset="0"/>
              <a:buChar char="•"/>
            </a:pPr>
            <a:r>
              <a:rPr lang="en-US" sz="1900" b="1">
                <a:solidFill>
                  <a:schemeClr val="tx1"/>
                </a:solidFill>
              </a:rPr>
              <a:t>The objective of this project is to analyze New York City property sales data using Exploratory Data Analysis (EDA) and Machine Learning techniques to:</a:t>
            </a:r>
          </a:p>
          <a:p>
            <a:pPr indent="-228600" algn="l" defTabSz="914400">
              <a:lnSpc>
                <a:spcPct val="90000"/>
              </a:lnSpc>
              <a:buFont typeface="Arial" panose="020B0604020202020204" pitchFamily="34" charset="0"/>
              <a:buChar char="•"/>
            </a:pPr>
            <a:endParaRPr lang="en-US" sz="1900" b="1">
              <a:solidFill>
                <a:schemeClr val="tx1"/>
              </a:solidFill>
            </a:endParaRPr>
          </a:p>
          <a:p>
            <a:pPr marL="457200" indent="-228600" algn="l" defTabSz="914400">
              <a:lnSpc>
                <a:spcPct val="90000"/>
              </a:lnSpc>
              <a:buFont typeface="Arial" panose="020B0604020202020204" pitchFamily="34" charset="0"/>
              <a:buChar char="•"/>
            </a:pPr>
            <a:r>
              <a:rPr lang="en-US" sz="1900" b="1">
                <a:solidFill>
                  <a:schemeClr val="tx1"/>
                </a:solidFill>
              </a:rPr>
              <a:t>Analyze NYC property sales dataset</a:t>
            </a:r>
          </a:p>
          <a:p>
            <a:pPr marL="457200" indent="-228600" algn="l" defTabSz="914400">
              <a:lnSpc>
                <a:spcPct val="90000"/>
              </a:lnSpc>
              <a:buFont typeface="Arial" panose="020B0604020202020204" pitchFamily="34" charset="0"/>
              <a:buChar char="•"/>
            </a:pPr>
            <a:r>
              <a:rPr lang="en-US" sz="1900" b="1">
                <a:solidFill>
                  <a:schemeClr val="tx1"/>
                </a:solidFill>
              </a:rPr>
              <a:t>Perform EDA to identify trends and outliers</a:t>
            </a:r>
          </a:p>
          <a:p>
            <a:pPr marL="457200" indent="-228600" algn="l" defTabSz="914400">
              <a:lnSpc>
                <a:spcPct val="90000"/>
              </a:lnSpc>
              <a:buFont typeface="Arial" panose="020B0604020202020204" pitchFamily="34" charset="0"/>
              <a:buChar char="•"/>
            </a:pPr>
            <a:r>
              <a:rPr lang="en-US" sz="1900" b="1">
                <a:solidFill>
                  <a:schemeClr val="tx1"/>
                </a:solidFill>
              </a:rPr>
              <a:t>Study relationship between features and sale price</a:t>
            </a:r>
          </a:p>
          <a:p>
            <a:pPr marL="457200" indent="-228600" algn="l" defTabSz="914400">
              <a:lnSpc>
                <a:spcPct val="90000"/>
              </a:lnSpc>
              <a:buFont typeface="Arial" panose="020B0604020202020204" pitchFamily="34" charset="0"/>
              <a:buChar char="•"/>
            </a:pPr>
            <a:r>
              <a:rPr lang="en-US" sz="1900" b="1">
                <a:solidFill>
                  <a:schemeClr val="tx1"/>
                </a:solidFill>
              </a:rPr>
              <a:t>Build a machine learning model to predict property sale price</a:t>
            </a:r>
          </a:p>
          <a:p>
            <a:pPr indent="-228600" algn="l" defTabSz="914400">
              <a:lnSpc>
                <a:spcPct val="90000"/>
              </a:lnSpc>
              <a:buFont typeface="Arial" panose="020B0604020202020204" pitchFamily="34" charset="0"/>
              <a:buChar char="•"/>
            </a:pPr>
            <a:endParaRPr lang="en-US" sz="1900" b="1">
              <a:solidFill>
                <a:schemeClr val="tx1"/>
              </a:solidFill>
            </a:endParaRPr>
          </a:p>
          <a:p>
            <a:pPr indent="-228600" algn="l" defTabSz="914400">
              <a:lnSpc>
                <a:spcPct val="90000"/>
              </a:lnSpc>
              <a:buFont typeface="Arial" panose="020B0604020202020204" pitchFamily="34" charset="0"/>
              <a:buChar char="•"/>
            </a:pPr>
            <a:endParaRPr lang="en-US" sz="1900" b="1">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Dataset Description &amp; Model Selection</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buNone/>
            </a:pPr>
            <a:r>
              <a:rPr lang="en-US" sz="1000"/>
              <a:t>The dataset consists of New York City property sales records, containing information about properties sold across five boroughs:</a:t>
            </a:r>
          </a:p>
          <a:p>
            <a:pPr>
              <a:lnSpc>
                <a:spcPct val="90000"/>
              </a:lnSpc>
              <a:buFont typeface="Arial" panose="020B0604020202020204" pitchFamily="34" charset="0"/>
              <a:buChar char="•"/>
            </a:pPr>
            <a:r>
              <a:rPr lang="en-US" sz="1000"/>
              <a:t>Manhattan (1)</a:t>
            </a:r>
          </a:p>
          <a:p>
            <a:pPr>
              <a:lnSpc>
                <a:spcPct val="90000"/>
              </a:lnSpc>
              <a:buFont typeface="Arial" panose="020B0604020202020204" pitchFamily="34" charset="0"/>
              <a:buChar char="•"/>
            </a:pPr>
            <a:r>
              <a:rPr lang="en-US" sz="1000"/>
              <a:t>Bronx (2)</a:t>
            </a:r>
          </a:p>
          <a:p>
            <a:pPr>
              <a:lnSpc>
                <a:spcPct val="90000"/>
              </a:lnSpc>
              <a:buFont typeface="Arial" panose="020B0604020202020204" pitchFamily="34" charset="0"/>
              <a:buChar char="•"/>
            </a:pPr>
            <a:r>
              <a:rPr lang="en-US" sz="1000"/>
              <a:t>Brooklyn (3)</a:t>
            </a:r>
          </a:p>
          <a:p>
            <a:pPr>
              <a:lnSpc>
                <a:spcPct val="90000"/>
              </a:lnSpc>
              <a:buFont typeface="Arial" panose="020B0604020202020204" pitchFamily="34" charset="0"/>
              <a:buChar char="•"/>
            </a:pPr>
            <a:r>
              <a:rPr lang="en-US" sz="1000"/>
              <a:t>Queens (4)</a:t>
            </a:r>
          </a:p>
          <a:p>
            <a:pPr>
              <a:lnSpc>
                <a:spcPct val="90000"/>
              </a:lnSpc>
              <a:buFont typeface="Arial" panose="020B0604020202020204" pitchFamily="34" charset="0"/>
              <a:buChar char="•"/>
            </a:pPr>
            <a:r>
              <a:rPr lang="en-US" sz="1000"/>
              <a:t>Staten Island (5)</a:t>
            </a:r>
          </a:p>
          <a:p>
            <a:pPr>
              <a:lnSpc>
                <a:spcPct val="90000"/>
              </a:lnSpc>
              <a:buNone/>
            </a:pPr>
            <a:r>
              <a:rPr lang="en-US" sz="1000"/>
              <a:t>Each record includes the following key attributes:</a:t>
            </a:r>
          </a:p>
          <a:p>
            <a:pPr>
              <a:lnSpc>
                <a:spcPct val="90000"/>
              </a:lnSpc>
              <a:buFont typeface="Arial" panose="020B0604020202020204" pitchFamily="34" charset="0"/>
              <a:buChar char="•"/>
            </a:pPr>
            <a:r>
              <a:rPr lang="en-US" sz="1000"/>
              <a:t>Property location and address</a:t>
            </a:r>
          </a:p>
          <a:p>
            <a:pPr>
              <a:lnSpc>
                <a:spcPct val="90000"/>
              </a:lnSpc>
              <a:buFont typeface="Arial" panose="020B0604020202020204" pitchFamily="34" charset="0"/>
              <a:buChar char="•"/>
            </a:pPr>
            <a:r>
              <a:rPr lang="en-US" sz="1000"/>
              <a:t>Borough and tax class</a:t>
            </a:r>
          </a:p>
          <a:p>
            <a:pPr>
              <a:lnSpc>
                <a:spcPct val="90000"/>
              </a:lnSpc>
              <a:buFont typeface="Arial" panose="020B0604020202020204" pitchFamily="34" charset="0"/>
              <a:buChar char="•"/>
            </a:pPr>
            <a:r>
              <a:rPr lang="en-US" sz="1000"/>
              <a:t>Building type</a:t>
            </a:r>
          </a:p>
          <a:p>
            <a:pPr>
              <a:lnSpc>
                <a:spcPct val="90000"/>
              </a:lnSpc>
              <a:buFont typeface="Arial" panose="020B0604020202020204" pitchFamily="34" charset="0"/>
              <a:buChar char="•"/>
            </a:pPr>
            <a:r>
              <a:rPr lang="en-US" sz="1000"/>
              <a:t>Sale price</a:t>
            </a:r>
          </a:p>
          <a:p>
            <a:pPr>
              <a:lnSpc>
                <a:spcPct val="90000"/>
              </a:lnSpc>
              <a:buFont typeface="Arial" panose="020B0604020202020204" pitchFamily="34" charset="0"/>
              <a:buChar char="•"/>
            </a:pPr>
            <a:r>
              <a:rPr lang="en-US" sz="1000"/>
              <a:t>Sale date</a:t>
            </a:r>
          </a:p>
          <a:p>
            <a:pPr>
              <a:lnSpc>
                <a:spcPct val="90000"/>
              </a:lnSpc>
              <a:buNone/>
            </a:pPr>
            <a:r>
              <a:rPr lang="en-US" sz="1000"/>
              <a:t>The dataset is used to analyze real estate trends and to predict property sale prices based on historical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Load Data and Initial Overview</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en-US" sz="1800" dirty="0" err="1"/>
              <a:t>DataFrame</a:t>
            </a:r>
            <a:r>
              <a:rPr lang="en-US" sz="1800" dirty="0"/>
              <a:t> shape: 2018049 rows, 21 columns</a:t>
            </a:r>
          </a:p>
          <a:p>
            <a:pPr marL="0" indent="0">
              <a:lnSpc>
                <a:spcPct val="90000"/>
              </a:lnSpc>
              <a:buNone/>
            </a:pPr>
            <a:endParaRPr lang="en-US" sz="1800" dirty="0"/>
          </a:p>
          <a:p>
            <a:pPr marL="0" indent="0">
              <a:lnSpc>
                <a:spcPct val="90000"/>
              </a:lnSpc>
              <a:buNone/>
            </a:pPr>
            <a:r>
              <a:rPr lang="en-US" sz="1800" dirty="0"/>
              <a:t>Filter Data for Last 5 Years:</a:t>
            </a:r>
          </a:p>
          <a:p>
            <a:pPr marL="0" indent="0">
              <a:lnSpc>
                <a:spcPct val="90000"/>
              </a:lnSpc>
              <a:buNone/>
            </a:pPr>
            <a:endParaRPr lang="en-US" sz="1800" dirty="0"/>
          </a:p>
          <a:p>
            <a:pPr marL="0" indent="0">
              <a:lnSpc>
                <a:spcPct val="90000"/>
              </a:lnSpc>
              <a:buNone/>
            </a:pPr>
            <a:r>
              <a:rPr lang="en-US" sz="1800" dirty="0"/>
              <a:t>Most recent sale date: 2022-12-31 00:00:00 </a:t>
            </a:r>
          </a:p>
          <a:p>
            <a:pPr marL="0" indent="0">
              <a:lnSpc>
                <a:spcPct val="90000"/>
              </a:lnSpc>
              <a:buNone/>
            </a:pPr>
            <a:r>
              <a:rPr lang="en-US" sz="1800" dirty="0"/>
              <a:t>Date 5 years prior to most recent sale: 2017-12-31 00:00:00 </a:t>
            </a:r>
          </a:p>
          <a:p>
            <a:pPr marL="0" indent="0">
              <a:lnSpc>
                <a:spcPct val="90000"/>
              </a:lnSpc>
              <a:buNone/>
            </a:pPr>
            <a:endParaRPr lang="en-US" sz="1800" dirty="0"/>
          </a:p>
          <a:p>
            <a:pPr marL="0" indent="0">
              <a:lnSpc>
                <a:spcPct val="90000"/>
              </a:lnSpc>
              <a:buNone/>
            </a:pPr>
            <a:r>
              <a:rPr lang="en-US" sz="1800" dirty="0"/>
              <a:t>Shape of </a:t>
            </a:r>
            <a:r>
              <a:rPr lang="en-US" sz="1800" dirty="0" err="1"/>
              <a:t>DataFrame</a:t>
            </a:r>
            <a:r>
              <a:rPr lang="en-US" sz="1800" dirty="0"/>
              <a:t> after filtering for last 5 years: (428248, 21)</a:t>
            </a:r>
          </a:p>
          <a:p>
            <a:pPr marL="0" indent="0">
              <a:lnSpc>
                <a:spcPct val="90000"/>
              </a:lnSpc>
              <a:buNone/>
            </a:pP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Data Cleaning and Preprocessing</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en-US" sz="2100" dirty="0"/>
              <a:t>Stripped whitespace from column names. </a:t>
            </a:r>
          </a:p>
          <a:p>
            <a:pPr>
              <a:lnSpc>
                <a:spcPct val="90000"/>
              </a:lnSpc>
            </a:pPr>
            <a:r>
              <a:rPr lang="en-US" sz="2100" dirty="0"/>
              <a:t>Dropped 0 rows with </a:t>
            </a:r>
            <a:r>
              <a:rPr lang="en-US" sz="2100" dirty="0" err="1"/>
              <a:t>NaT</a:t>
            </a:r>
            <a:r>
              <a:rPr lang="en-US" sz="2100" dirty="0"/>
              <a:t> in 'SALE DATE'. Remaining rows: 428248 </a:t>
            </a:r>
          </a:p>
          <a:p>
            <a:pPr>
              <a:lnSpc>
                <a:spcPct val="90000"/>
              </a:lnSpc>
            </a:pPr>
            <a:r>
              <a:rPr lang="en-US" sz="2100" dirty="0"/>
              <a:t>Dropped 162550 rows where 'SALE PRICE' was 0. Remaining rows: 300589 </a:t>
            </a:r>
          </a:p>
          <a:p>
            <a:pPr>
              <a:lnSpc>
                <a:spcPct val="90000"/>
              </a:lnSpc>
            </a:pPr>
            <a:r>
              <a:rPr lang="en-US" sz="2100" dirty="0"/>
              <a:t>Dropped 'EASE-MENT' column. </a:t>
            </a:r>
          </a:p>
          <a:p>
            <a:pPr>
              <a:lnSpc>
                <a:spcPct val="90000"/>
              </a:lnSpc>
            </a:pPr>
            <a:r>
              <a:rPr lang="en-US" sz="2100" dirty="0"/>
              <a:t>Dropped 110597 rows with </a:t>
            </a:r>
            <a:r>
              <a:rPr lang="en-US" sz="2100" dirty="0" err="1"/>
              <a:t>NaN</a:t>
            </a:r>
            <a:r>
              <a:rPr lang="en-US" sz="2100" dirty="0"/>
              <a:t> in critical numerical columns. Remaining rows: 190001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Exploratory Data Analysis</a:t>
            </a:r>
          </a:p>
        </p:txBody>
      </p:sp>
      <p:pic>
        <p:nvPicPr>
          <p:cNvPr id="5" name="Content Placeholder 4" descr="A graph showing a number of sales&#10;&#10;AI-generated content may be incorrect.">
            <a:extLst>
              <a:ext uri="{FF2B5EF4-FFF2-40B4-BE49-F238E27FC236}">
                <a16:creationId xmlns:a16="http://schemas.microsoft.com/office/drawing/2014/main" id="{78656023-B2C2-F97C-0A23-121D3E526887}"/>
              </a:ext>
            </a:extLst>
          </p:cNvPr>
          <p:cNvPicPr>
            <a:picLocks noGrp="1" noChangeAspect="1"/>
          </p:cNvPicPr>
          <p:nvPr>
            <p:ph idx="1"/>
          </p:nvPr>
        </p:nvPicPr>
        <p:blipFill>
          <a:blip r:embed="rId2"/>
          <a:stretch>
            <a:fillRect/>
          </a:stretch>
        </p:blipFill>
        <p:spPr>
          <a:xfrm>
            <a:off x="482600" y="1745839"/>
            <a:ext cx="8178799" cy="4252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Exploratory Data Analysis</a:t>
            </a:r>
          </a:p>
        </p:txBody>
      </p:sp>
      <p:pic>
        <p:nvPicPr>
          <p:cNvPr id="5" name="Content Placeholder 4" descr="A graph showing a number of different colored squares&#10;&#10;AI-generated content may be incorrect.">
            <a:extLst>
              <a:ext uri="{FF2B5EF4-FFF2-40B4-BE49-F238E27FC236}">
                <a16:creationId xmlns:a16="http://schemas.microsoft.com/office/drawing/2014/main" id="{028AD811-33DF-2FF2-81D3-5CDF6B5B7EB3}"/>
              </a:ext>
            </a:extLst>
          </p:cNvPr>
          <p:cNvPicPr>
            <a:picLocks noGrp="1" noChangeAspect="1"/>
          </p:cNvPicPr>
          <p:nvPr>
            <p:ph idx="1"/>
          </p:nvPr>
        </p:nvPicPr>
        <p:blipFill>
          <a:blip r:embed="rId2"/>
          <a:stretch>
            <a:fillRect/>
          </a:stretch>
        </p:blipFill>
        <p:spPr>
          <a:xfrm>
            <a:off x="482600" y="1766286"/>
            <a:ext cx="8178799" cy="42120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Exploratory Data Analysis</a:t>
            </a:r>
          </a:p>
        </p:txBody>
      </p:sp>
      <p:pic>
        <p:nvPicPr>
          <p:cNvPr id="5" name="Content Placeholder 4" descr="A graph showing the distribution of a building&#10;&#10;AI-generated content may be incorrect.">
            <a:extLst>
              <a:ext uri="{FF2B5EF4-FFF2-40B4-BE49-F238E27FC236}">
                <a16:creationId xmlns:a16="http://schemas.microsoft.com/office/drawing/2014/main" id="{4A431E67-ED44-7EE8-BE26-14A6DAD097F8}"/>
              </a:ext>
            </a:extLst>
          </p:cNvPr>
          <p:cNvPicPr>
            <a:picLocks noGrp="1" noChangeAspect="1"/>
          </p:cNvPicPr>
          <p:nvPr>
            <p:ph idx="1"/>
          </p:nvPr>
        </p:nvPicPr>
        <p:blipFill>
          <a:blip r:embed="rId2"/>
          <a:stretch>
            <a:fillRect/>
          </a:stretch>
        </p:blipFill>
        <p:spPr>
          <a:xfrm>
            <a:off x="482600" y="1837850"/>
            <a:ext cx="8178799" cy="40689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Time Series Analysis of Sales</a:t>
            </a:r>
          </a:p>
        </p:txBody>
      </p:sp>
      <p:pic>
        <p:nvPicPr>
          <p:cNvPr id="5" name="Content Placeholder 4" descr="A graph showing the number of sales&#10;&#10;AI-generated content may be incorrect.">
            <a:extLst>
              <a:ext uri="{FF2B5EF4-FFF2-40B4-BE49-F238E27FC236}">
                <a16:creationId xmlns:a16="http://schemas.microsoft.com/office/drawing/2014/main" id="{82CEA26B-5275-BA8C-DAC6-589887D8D360}"/>
              </a:ext>
            </a:extLst>
          </p:cNvPr>
          <p:cNvPicPr>
            <a:picLocks noGrp="1" noChangeAspect="1"/>
          </p:cNvPicPr>
          <p:nvPr>
            <p:ph idx="1"/>
          </p:nvPr>
        </p:nvPicPr>
        <p:blipFill>
          <a:blip r:embed="rId2"/>
          <a:stretch>
            <a:fillRect/>
          </a:stretch>
        </p:blipFill>
        <p:spPr>
          <a:xfrm>
            <a:off x="482600" y="1878744"/>
            <a:ext cx="8178799" cy="3987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Time Series Analysis of Sales</a:t>
            </a:r>
          </a:p>
        </p:txBody>
      </p:sp>
      <p:pic>
        <p:nvPicPr>
          <p:cNvPr id="5" name="Content Placeholder 4" descr="A graph showing the number of sales&#10;&#10;AI-generated content may be incorrect.">
            <a:extLst>
              <a:ext uri="{FF2B5EF4-FFF2-40B4-BE49-F238E27FC236}">
                <a16:creationId xmlns:a16="http://schemas.microsoft.com/office/drawing/2014/main" id="{2DABC8E5-FC0E-FB12-E7AC-162E8A3C1CC9}"/>
              </a:ext>
            </a:extLst>
          </p:cNvPr>
          <p:cNvPicPr>
            <a:picLocks noGrp="1" noChangeAspect="1"/>
          </p:cNvPicPr>
          <p:nvPr>
            <p:ph idx="1"/>
          </p:nvPr>
        </p:nvPicPr>
        <p:blipFill>
          <a:blip r:embed="rId2"/>
          <a:stretch>
            <a:fillRect/>
          </a:stretch>
        </p:blipFill>
        <p:spPr>
          <a:xfrm>
            <a:off x="482600" y="1940085"/>
            <a:ext cx="8178799" cy="38644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Feature Correlation with Sale Price</a:t>
            </a:r>
          </a:p>
        </p:txBody>
      </p:sp>
      <p:pic>
        <p:nvPicPr>
          <p:cNvPr id="5" name="Content Placeholder 4" descr="A diagram of a number of numbers&#10;&#10;AI-generated content may be incorrect.">
            <a:extLst>
              <a:ext uri="{FF2B5EF4-FFF2-40B4-BE49-F238E27FC236}">
                <a16:creationId xmlns:a16="http://schemas.microsoft.com/office/drawing/2014/main" id="{3859DFC7-92D2-B850-3DAB-0E50D203EC8B}"/>
              </a:ext>
            </a:extLst>
          </p:cNvPr>
          <p:cNvPicPr>
            <a:picLocks noGrp="1" noChangeAspect="1"/>
          </p:cNvPicPr>
          <p:nvPr>
            <p:ph idx="1"/>
          </p:nvPr>
        </p:nvPicPr>
        <p:blipFill>
          <a:blip r:embed="rId2"/>
          <a:stretch>
            <a:fillRect/>
          </a:stretch>
        </p:blipFill>
        <p:spPr>
          <a:xfrm>
            <a:off x="1661934" y="1675227"/>
            <a:ext cx="5820131" cy="43941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Feature Engineering</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en-US" sz="1800" dirty="0"/>
              <a:t>New features 'PRICE_PER_SQFT' and 'AGE_OF_BUILDING' created and cleaned. </a:t>
            </a:r>
          </a:p>
          <a:p>
            <a:pPr>
              <a:lnSpc>
                <a:spcPct val="90000"/>
              </a:lnSpc>
            </a:pPr>
            <a:r>
              <a:rPr lang="en-US" sz="1800" dirty="0"/>
              <a:t>Categorical features one-hot encoded.</a:t>
            </a:r>
          </a:p>
          <a:p>
            <a:pPr marL="0" indent="0">
              <a:lnSpc>
                <a:spcPct val="90000"/>
              </a:lnSpc>
              <a:buNone/>
            </a:pPr>
            <a:r>
              <a:rPr lang="en-US" sz="1800" dirty="0"/>
              <a:t>	'BOROUGH_NAME_’,</a:t>
            </a:r>
          </a:p>
          <a:p>
            <a:pPr marL="0" indent="0">
              <a:lnSpc>
                <a:spcPct val="90000"/>
              </a:lnSpc>
              <a:buNone/>
            </a:pPr>
            <a:r>
              <a:rPr lang="en-US" sz="1800" dirty="0"/>
              <a:t>	‘TAX CLASS AT TIME OF SALE_’,</a:t>
            </a:r>
          </a:p>
          <a:p>
            <a:pPr marL="0" indent="0">
              <a:lnSpc>
                <a:spcPct val="90000"/>
              </a:lnSpc>
              <a:buNone/>
            </a:pPr>
            <a:r>
              <a:rPr lang="en-US" sz="1800" dirty="0"/>
              <a:t>	‘BUILDING CLASS CATEGORY_’,</a:t>
            </a:r>
          </a:p>
          <a:p>
            <a:pPr marL="0" indent="0">
              <a:lnSpc>
                <a:spcPct val="90000"/>
              </a:lnSpc>
              <a:buNone/>
            </a:pPr>
            <a:r>
              <a:rPr lang="en-US" sz="1800" dirty="0"/>
              <a:t>	‘ZIP CODE_</a:t>
            </a:r>
          </a:p>
          <a:p>
            <a:pPr marL="0" indent="0">
              <a:lnSpc>
                <a:spcPct val="90000"/>
              </a:lnSpc>
              <a:buNone/>
            </a:pPr>
            <a:endParaRPr lang="en-US" sz="1800" dirty="0"/>
          </a:p>
          <a:p>
            <a:pPr>
              <a:lnSpc>
                <a:spcPct val="90000"/>
              </a:lnSpc>
            </a:pPr>
            <a:r>
              <a:rPr lang="en-US" sz="1800" dirty="0" err="1"/>
              <a:t>Sale_Date</a:t>
            </a:r>
            <a:r>
              <a:rPr lang="en-US" sz="1800" dirty="0"/>
              <a:t> used to create </a:t>
            </a:r>
            <a:r>
              <a:rPr lang="en-US" sz="1800" dirty="0" err="1"/>
              <a:t>Sale_Year</a:t>
            </a:r>
            <a:r>
              <a:rPr lang="en-US" sz="1800" dirty="0"/>
              <a:t>, </a:t>
            </a:r>
            <a:r>
              <a:rPr lang="en-US" sz="1800" dirty="0" err="1"/>
              <a:t>Sale_Month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2517" y="1188637"/>
            <a:ext cx="7488461" cy="1597228"/>
          </a:xfrm>
        </p:spPr>
        <p:txBody>
          <a:bodyPr vert="horz" lIns="91440" tIns="45720" rIns="91440" bIns="45720" rtlCol="0" anchor="ctr">
            <a:normAutofit/>
          </a:bodyPr>
          <a:lstStyle/>
          <a:p>
            <a:pPr algn="l" defTabSz="914400">
              <a:lnSpc>
                <a:spcPct val="90000"/>
              </a:lnSpc>
            </a:pPr>
            <a:r>
              <a:rPr lang="en-US" sz="5200" kern="1200">
                <a:solidFill>
                  <a:schemeClr val="tx1"/>
                </a:solidFill>
                <a:latin typeface="+mj-lt"/>
                <a:ea typeface="+mj-ea"/>
                <a:cs typeface="+mj-cs"/>
              </a:rPr>
              <a:t>Prepare Data for Modeling</a:t>
            </a:r>
          </a:p>
        </p:txBody>
      </p:sp>
      <p:pic>
        <p:nvPicPr>
          <p:cNvPr id="5" name="Content Placeholder 4" descr="A black text with black text&#10;&#10;AI-generated content may be incorrect.">
            <a:extLst>
              <a:ext uri="{FF2B5EF4-FFF2-40B4-BE49-F238E27FC236}">
                <a16:creationId xmlns:a16="http://schemas.microsoft.com/office/drawing/2014/main" id="{DDD14181-9B6A-82C7-FB09-ABAFF6549E8F}"/>
              </a:ext>
            </a:extLst>
          </p:cNvPr>
          <p:cNvPicPr>
            <a:picLocks noGrp="1" noChangeAspect="1"/>
          </p:cNvPicPr>
          <p:nvPr>
            <p:ph idx="1"/>
          </p:nvPr>
        </p:nvPicPr>
        <p:blipFill>
          <a:blip r:embed="rId2"/>
          <a:stretch>
            <a:fillRect/>
          </a:stretch>
        </p:blipFill>
        <p:spPr>
          <a:xfrm>
            <a:off x="842517" y="4037862"/>
            <a:ext cx="2650489" cy="689127"/>
          </a:xfrm>
          <a:prstGeom prst="rect">
            <a:avLst/>
          </a:prstGeom>
        </p:spPr>
      </p:pic>
      <p:sp>
        <p:nvSpPr>
          <p:cNvPr id="6" name="TextBox 5">
            <a:extLst>
              <a:ext uri="{FF2B5EF4-FFF2-40B4-BE49-F238E27FC236}">
                <a16:creationId xmlns:a16="http://schemas.microsoft.com/office/drawing/2014/main" id="{1DA45A89-7FF8-396C-9010-DDD76B081D64}"/>
              </a:ext>
            </a:extLst>
          </p:cNvPr>
          <p:cNvSpPr txBox="1"/>
          <p:nvPr/>
        </p:nvSpPr>
        <p:spPr>
          <a:xfrm>
            <a:off x="3941445" y="2998278"/>
            <a:ext cx="3178692" cy="2728198"/>
          </a:xfrm>
          <a:prstGeom prst="rect">
            <a:avLst/>
          </a:prstGeom>
        </p:spPr>
        <p:txBody>
          <a:bodyPr vert="horz" lIns="91440" tIns="45720" rIns="91440" bIns="45720" rtlCol="0" anchor="t">
            <a:normAutofit/>
          </a:bodyPr>
          <a:lstStyle/>
          <a:p>
            <a:pPr defTabSz="914400">
              <a:lnSpc>
                <a:spcPct val="90000"/>
              </a:lnSpc>
              <a:spcAft>
                <a:spcPts val="600"/>
              </a:spcAft>
            </a:pPr>
            <a:r>
              <a:rPr lang="en-US" sz="1700" dirty="0"/>
              <a:t>Machine Learning Models used:</a:t>
            </a:r>
          </a:p>
          <a:p>
            <a:pPr indent="-228600" defTabSz="914400">
              <a:lnSpc>
                <a:spcPct val="90000"/>
              </a:lnSpc>
              <a:spcAft>
                <a:spcPts val="600"/>
              </a:spcAft>
              <a:buFont typeface="Arial" panose="020B0604020202020204" pitchFamily="34" charset="0"/>
              <a:buChar char="•"/>
            </a:pPr>
            <a:endParaRPr lang="en-US" sz="1700" dirty="0"/>
          </a:p>
          <a:p>
            <a:pPr marL="285750" indent="-228600" defTabSz="914400">
              <a:lnSpc>
                <a:spcPct val="90000"/>
              </a:lnSpc>
              <a:spcAft>
                <a:spcPts val="600"/>
              </a:spcAft>
              <a:buFont typeface="Arial" panose="020B0604020202020204" pitchFamily="34" charset="0"/>
              <a:buChar char="•"/>
            </a:pPr>
            <a:r>
              <a:rPr lang="en-US" sz="1700" dirty="0"/>
              <a:t>Linear Regression</a:t>
            </a:r>
          </a:p>
          <a:p>
            <a:pPr marL="285750" indent="-228600" defTabSz="914400">
              <a:lnSpc>
                <a:spcPct val="90000"/>
              </a:lnSpc>
              <a:spcAft>
                <a:spcPts val="600"/>
              </a:spcAft>
              <a:buFont typeface="Arial" panose="020B0604020202020204" pitchFamily="34" charset="0"/>
              <a:buChar char="•"/>
            </a:pPr>
            <a:r>
              <a:rPr lang="en-US" sz="1700" dirty="0"/>
              <a:t>Decision Tree</a:t>
            </a:r>
          </a:p>
          <a:p>
            <a:pPr marL="285750" indent="-228600" defTabSz="914400">
              <a:lnSpc>
                <a:spcPct val="90000"/>
              </a:lnSpc>
              <a:spcAft>
                <a:spcPts val="600"/>
              </a:spcAft>
              <a:buFont typeface="Arial" panose="020B0604020202020204" pitchFamily="34" charset="0"/>
              <a:buChar char="•"/>
            </a:pPr>
            <a:r>
              <a:rPr lang="en-US" sz="1700" dirty="0"/>
              <a:t>Random Forest</a:t>
            </a:r>
          </a:p>
          <a:p>
            <a:pPr marL="285750" indent="-228600" defTabSz="914400">
              <a:lnSpc>
                <a:spcPct val="90000"/>
              </a:lnSpc>
              <a:spcAft>
                <a:spcPts val="600"/>
              </a:spcAft>
              <a:buFont typeface="Arial" panose="020B0604020202020204" pitchFamily="34" charset="0"/>
              <a:buChar char="•"/>
            </a:pPr>
            <a:r>
              <a:rPr lang="en-US" sz="1700" dirty="0"/>
              <a:t>Gradient Boosting Regressor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Train and Evaluate Linear Regression Model</a:t>
            </a:r>
          </a:p>
        </p:txBody>
      </p:sp>
      <p:pic>
        <p:nvPicPr>
          <p:cNvPr id="5" name="Content Placeholder 4" descr="A white background with black text&#10;&#10;AI-generated content may be incorrect.">
            <a:extLst>
              <a:ext uri="{FF2B5EF4-FFF2-40B4-BE49-F238E27FC236}">
                <a16:creationId xmlns:a16="http://schemas.microsoft.com/office/drawing/2014/main" id="{43B2AAB1-5287-D527-49AE-A2E6994F6679}"/>
              </a:ext>
            </a:extLst>
          </p:cNvPr>
          <p:cNvPicPr>
            <a:picLocks noGrp="1" noChangeAspect="1"/>
          </p:cNvPicPr>
          <p:nvPr>
            <p:ph idx="1"/>
          </p:nvPr>
        </p:nvPicPr>
        <p:blipFill>
          <a:blip r:embed="rId2"/>
          <a:stretch>
            <a:fillRect/>
          </a:stretch>
        </p:blipFill>
        <p:spPr>
          <a:xfrm>
            <a:off x="868362" y="1417638"/>
            <a:ext cx="4864100" cy="1003300"/>
          </a:xfrm>
        </p:spPr>
      </p:pic>
      <p:pic>
        <p:nvPicPr>
          <p:cNvPr id="7" name="Picture 6" descr="A graph showing the difference between a line and a line&#10;&#10;AI-generated content may be incorrect.">
            <a:extLst>
              <a:ext uri="{FF2B5EF4-FFF2-40B4-BE49-F238E27FC236}">
                <a16:creationId xmlns:a16="http://schemas.microsoft.com/office/drawing/2014/main" id="{DD37D99F-6C47-B0B6-F88A-FD5BEC7116F9}"/>
              </a:ext>
            </a:extLst>
          </p:cNvPr>
          <p:cNvPicPr>
            <a:picLocks noChangeAspect="1"/>
          </p:cNvPicPr>
          <p:nvPr/>
        </p:nvPicPr>
        <p:blipFill>
          <a:blip r:embed="rId3"/>
          <a:stretch>
            <a:fillRect/>
          </a:stretch>
        </p:blipFill>
        <p:spPr>
          <a:xfrm>
            <a:off x="503238" y="2834005"/>
            <a:ext cx="7772400" cy="32061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Train and Evaluate Decision Tree Models</a:t>
            </a:r>
          </a:p>
        </p:txBody>
      </p:sp>
      <p:pic>
        <p:nvPicPr>
          <p:cNvPr id="5" name="Content Placeholder 4" descr="A close-up of a computer code&#10;&#10;AI-generated content may be incorrect.">
            <a:extLst>
              <a:ext uri="{FF2B5EF4-FFF2-40B4-BE49-F238E27FC236}">
                <a16:creationId xmlns:a16="http://schemas.microsoft.com/office/drawing/2014/main" id="{B610073A-021E-C1C9-ACFB-A442A5C1E9C3}"/>
              </a:ext>
            </a:extLst>
          </p:cNvPr>
          <p:cNvPicPr>
            <a:picLocks noGrp="1" noChangeAspect="1"/>
          </p:cNvPicPr>
          <p:nvPr>
            <p:ph idx="1"/>
          </p:nvPr>
        </p:nvPicPr>
        <p:blipFill>
          <a:blip r:embed="rId2"/>
          <a:stretch>
            <a:fillRect/>
          </a:stretch>
        </p:blipFill>
        <p:spPr>
          <a:xfrm>
            <a:off x="482600" y="1745839"/>
            <a:ext cx="8178799" cy="42529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Train and Evaluate Decision Tree Models</a:t>
            </a:r>
          </a:p>
        </p:txBody>
      </p:sp>
      <p:pic>
        <p:nvPicPr>
          <p:cNvPr id="5" name="Content Placeholder 4" descr="A graph showing the difference between overfitting and underfitting&#10;&#10;AI-generated content may be incorrect.">
            <a:extLst>
              <a:ext uri="{FF2B5EF4-FFF2-40B4-BE49-F238E27FC236}">
                <a16:creationId xmlns:a16="http://schemas.microsoft.com/office/drawing/2014/main" id="{9AEFEAD2-CD4E-9062-00A9-7CBBF241C3B5}"/>
              </a:ext>
            </a:extLst>
          </p:cNvPr>
          <p:cNvPicPr>
            <a:picLocks noGrp="1" noChangeAspect="1"/>
          </p:cNvPicPr>
          <p:nvPr>
            <p:ph idx="1"/>
          </p:nvPr>
        </p:nvPicPr>
        <p:blipFill>
          <a:blip r:embed="rId2"/>
          <a:stretch>
            <a:fillRect/>
          </a:stretch>
        </p:blipFill>
        <p:spPr>
          <a:xfrm>
            <a:off x="717439" y="1675227"/>
            <a:ext cx="7709121" cy="43941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Train and Evaluate Decision Tree Models</a:t>
            </a:r>
          </a:p>
        </p:txBody>
      </p:sp>
      <p:pic>
        <p:nvPicPr>
          <p:cNvPr id="5" name="Content Placeholder 4" descr="A graph showing a graph with a red line&#10;&#10;AI-generated content may be incorrect.">
            <a:extLst>
              <a:ext uri="{FF2B5EF4-FFF2-40B4-BE49-F238E27FC236}">
                <a16:creationId xmlns:a16="http://schemas.microsoft.com/office/drawing/2014/main" id="{142130A9-DD1D-AA89-7B14-02E919D9A847}"/>
              </a:ext>
            </a:extLst>
          </p:cNvPr>
          <p:cNvPicPr>
            <a:picLocks noGrp="1" noChangeAspect="1"/>
          </p:cNvPicPr>
          <p:nvPr>
            <p:ph idx="1"/>
          </p:nvPr>
        </p:nvPicPr>
        <p:blipFill>
          <a:blip r:embed="rId2"/>
          <a:stretch>
            <a:fillRect/>
          </a:stretch>
        </p:blipFill>
        <p:spPr>
          <a:xfrm>
            <a:off x="482600" y="2032097"/>
            <a:ext cx="8178799" cy="36804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Train and Evaluate Random Forest Regressor Model</a:t>
            </a:r>
          </a:p>
        </p:txBody>
      </p:sp>
      <p:pic>
        <p:nvPicPr>
          <p:cNvPr id="5" name="Content Placeholder 4" descr="A close-up of numbers&#10;&#10;AI-generated content may be incorrect.">
            <a:extLst>
              <a:ext uri="{FF2B5EF4-FFF2-40B4-BE49-F238E27FC236}">
                <a16:creationId xmlns:a16="http://schemas.microsoft.com/office/drawing/2014/main" id="{AD3B79CD-7244-9686-F5CF-59A58EBDCED1}"/>
              </a:ext>
            </a:extLst>
          </p:cNvPr>
          <p:cNvPicPr>
            <a:picLocks noGrp="1" noChangeAspect="1"/>
          </p:cNvPicPr>
          <p:nvPr>
            <p:ph idx="1"/>
          </p:nvPr>
        </p:nvPicPr>
        <p:blipFill>
          <a:blip r:embed="rId2"/>
          <a:stretch>
            <a:fillRect/>
          </a:stretch>
        </p:blipFill>
        <p:spPr>
          <a:xfrm>
            <a:off x="635000" y="1417638"/>
            <a:ext cx="3937000" cy="1333500"/>
          </a:xfrm>
        </p:spPr>
      </p:pic>
      <p:pic>
        <p:nvPicPr>
          <p:cNvPr id="7" name="Picture 6" descr="A graph showing a line of blue dots&#10;&#10;AI-generated content may be incorrect.">
            <a:extLst>
              <a:ext uri="{FF2B5EF4-FFF2-40B4-BE49-F238E27FC236}">
                <a16:creationId xmlns:a16="http://schemas.microsoft.com/office/drawing/2014/main" id="{35B39D9E-7D92-EC98-DCBB-5CC892436AE7}"/>
              </a:ext>
            </a:extLst>
          </p:cNvPr>
          <p:cNvPicPr>
            <a:picLocks noChangeAspect="1"/>
          </p:cNvPicPr>
          <p:nvPr/>
        </p:nvPicPr>
        <p:blipFill>
          <a:blip r:embed="rId3"/>
          <a:stretch>
            <a:fillRect/>
          </a:stretch>
        </p:blipFill>
        <p:spPr>
          <a:xfrm>
            <a:off x="1525212" y="2751138"/>
            <a:ext cx="6093576" cy="39893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Train and Evaluate Random Forest Regressor Model</a:t>
            </a:r>
          </a:p>
        </p:txBody>
      </p:sp>
      <p:pic>
        <p:nvPicPr>
          <p:cNvPr id="5" name="Content Placeholder 4" descr="A graph showing a graph of a forest&#10;&#10;AI-generated content may be incorrect.">
            <a:extLst>
              <a:ext uri="{FF2B5EF4-FFF2-40B4-BE49-F238E27FC236}">
                <a16:creationId xmlns:a16="http://schemas.microsoft.com/office/drawing/2014/main" id="{808123D3-C2B2-EECB-2273-031BEB5B06B0}"/>
              </a:ext>
            </a:extLst>
          </p:cNvPr>
          <p:cNvPicPr>
            <a:picLocks noGrp="1" noChangeAspect="1"/>
          </p:cNvPicPr>
          <p:nvPr>
            <p:ph idx="1"/>
          </p:nvPr>
        </p:nvPicPr>
        <p:blipFill>
          <a:blip r:embed="rId2"/>
          <a:stretch>
            <a:fillRect/>
          </a:stretch>
        </p:blipFill>
        <p:spPr>
          <a:xfrm>
            <a:off x="1152389" y="1675227"/>
            <a:ext cx="6839220" cy="43941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Train and Evaluate Gradient Boosting Regressor Model</a:t>
            </a:r>
          </a:p>
        </p:txBody>
      </p:sp>
      <p:pic>
        <p:nvPicPr>
          <p:cNvPr id="5" name="Content Placeholder 4" descr="A close-up of a number&#10;&#10;AI-generated content may be incorrect.">
            <a:extLst>
              <a:ext uri="{FF2B5EF4-FFF2-40B4-BE49-F238E27FC236}">
                <a16:creationId xmlns:a16="http://schemas.microsoft.com/office/drawing/2014/main" id="{FB178BED-10C8-BE7B-B988-821930273346}"/>
              </a:ext>
            </a:extLst>
          </p:cNvPr>
          <p:cNvPicPr>
            <a:picLocks noGrp="1" noChangeAspect="1"/>
          </p:cNvPicPr>
          <p:nvPr>
            <p:ph idx="1"/>
          </p:nvPr>
        </p:nvPicPr>
        <p:blipFill>
          <a:blip r:embed="rId2"/>
          <a:stretch>
            <a:fillRect/>
          </a:stretch>
        </p:blipFill>
        <p:spPr>
          <a:xfrm>
            <a:off x="457200" y="1417638"/>
            <a:ext cx="5346700" cy="1257300"/>
          </a:xfrm>
        </p:spPr>
      </p:pic>
      <p:pic>
        <p:nvPicPr>
          <p:cNvPr id="7" name="Picture 6" descr="A graph showing the difference between the value of a product&#10;&#10;AI-generated content may be incorrect.">
            <a:extLst>
              <a:ext uri="{FF2B5EF4-FFF2-40B4-BE49-F238E27FC236}">
                <a16:creationId xmlns:a16="http://schemas.microsoft.com/office/drawing/2014/main" id="{90DDA3C3-602A-EE46-13FA-0DE982C3D830}"/>
              </a:ext>
            </a:extLst>
          </p:cNvPr>
          <p:cNvPicPr>
            <a:picLocks noChangeAspect="1"/>
          </p:cNvPicPr>
          <p:nvPr/>
        </p:nvPicPr>
        <p:blipFill>
          <a:blip r:embed="rId3"/>
          <a:stretch>
            <a:fillRect/>
          </a:stretch>
        </p:blipFill>
        <p:spPr>
          <a:xfrm>
            <a:off x="1510719" y="2719565"/>
            <a:ext cx="6122562" cy="39031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495C69-2464-4C31-F27D-8B1CC617C52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60FAFA3-FE4E-99D8-D983-96D985333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434F5-0546-52F7-8667-5C642EB49FE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Train and Evaluate Gradient Boosting Regressor Model</a:t>
            </a:r>
          </a:p>
        </p:txBody>
      </p:sp>
      <p:pic>
        <p:nvPicPr>
          <p:cNvPr id="5" name="Content Placeholder 4" descr="A graph showing a graph of a sales increase&#10;&#10;AI-generated content may be incorrect.">
            <a:extLst>
              <a:ext uri="{FF2B5EF4-FFF2-40B4-BE49-F238E27FC236}">
                <a16:creationId xmlns:a16="http://schemas.microsoft.com/office/drawing/2014/main" id="{8EF44479-F48C-D2C3-4C6A-F4C8A80D2736}"/>
              </a:ext>
            </a:extLst>
          </p:cNvPr>
          <p:cNvPicPr>
            <a:picLocks noGrp="1" noChangeAspect="1"/>
          </p:cNvPicPr>
          <p:nvPr>
            <p:ph idx="1"/>
          </p:nvPr>
        </p:nvPicPr>
        <p:blipFill>
          <a:blip r:embed="rId2"/>
          <a:stretch>
            <a:fillRect/>
          </a:stretch>
        </p:blipFill>
        <p:spPr>
          <a:xfrm>
            <a:off x="1204797" y="1675227"/>
            <a:ext cx="6734404" cy="4394199"/>
          </a:xfrm>
          <a:prstGeom prst="rect">
            <a:avLst/>
          </a:prstGeom>
        </p:spPr>
      </p:pic>
    </p:spTree>
    <p:extLst>
      <p:ext uri="{BB962C8B-B14F-4D97-AF65-F5344CB8AC3E}">
        <p14:creationId xmlns:p14="http://schemas.microsoft.com/office/powerpoint/2010/main" val="2318547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Model Comparison and Summary</a:t>
            </a:r>
          </a:p>
        </p:txBody>
      </p:sp>
      <p:pic>
        <p:nvPicPr>
          <p:cNvPr id="5" name="Content Placeholder 4" descr="A close-up of a computer code&#10;&#10;AI-generated content may be incorrect.">
            <a:extLst>
              <a:ext uri="{FF2B5EF4-FFF2-40B4-BE49-F238E27FC236}">
                <a16:creationId xmlns:a16="http://schemas.microsoft.com/office/drawing/2014/main" id="{16840465-94FA-C9D3-8379-FEE69D48F4B3}"/>
              </a:ext>
            </a:extLst>
          </p:cNvPr>
          <p:cNvPicPr>
            <a:picLocks noGrp="1" noChangeAspect="1"/>
          </p:cNvPicPr>
          <p:nvPr>
            <p:ph idx="1"/>
          </p:nvPr>
        </p:nvPicPr>
        <p:blipFill>
          <a:blip r:embed="rId2"/>
          <a:stretch>
            <a:fillRect/>
          </a:stretch>
        </p:blipFill>
        <p:spPr>
          <a:xfrm>
            <a:off x="482600" y="1725392"/>
            <a:ext cx="8178799" cy="429386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83401D-5E86-AD64-A095-F1CE64987E02}"/>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A597D97-203B-498B-95D3-E90DC961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graph with different colored bars&#10;&#10;AI-generated content may be incorrect.">
            <a:extLst>
              <a:ext uri="{FF2B5EF4-FFF2-40B4-BE49-F238E27FC236}">
                <a16:creationId xmlns:a16="http://schemas.microsoft.com/office/drawing/2014/main" id="{23F5EFC3-FB8C-93F6-BE92-BE1514845CA3}"/>
              </a:ext>
            </a:extLst>
          </p:cNvPr>
          <p:cNvPicPr>
            <a:picLocks noChangeAspect="1"/>
          </p:cNvPicPr>
          <p:nvPr/>
        </p:nvPicPr>
        <p:blipFill>
          <a:blip r:embed="rId2"/>
          <a:srcRect b="571"/>
          <a:stretch>
            <a:fillRect/>
          </a:stretch>
        </p:blipFill>
        <p:spPr>
          <a:xfrm>
            <a:off x="3198114" y="323396"/>
            <a:ext cx="5943600" cy="3383270"/>
          </a:xfrm>
          <a:prstGeom prst="rect">
            <a:avLst/>
          </a:prstGeom>
        </p:spPr>
      </p:pic>
      <p:pic>
        <p:nvPicPr>
          <p:cNvPr id="11" name="Picture 10" descr="A graph with different colored bars&#10;&#10;AI-generated content may be incorrect.">
            <a:extLst>
              <a:ext uri="{FF2B5EF4-FFF2-40B4-BE49-F238E27FC236}">
                <a16:creationId xmlns:a16="http://schemas.microsoft.com/office/drawing/2014/main" id="{C59C5309-FF84-0E08-D3C3-2647A7DD08B9}"/>
              </a:ext>
            </a:extLst>
          </p:cNvPr>
          <p:cNvPicPr>
            <a:picLocks noChangeAspect="1"/>
          </p:cNvPicPr>
          <p:nvPr/>
        </p:nvPicPr>
        <p:blipFill>
          <a:blip r:embed="rId3"/>
          <a:srcRect l="4108" r="-1" b="-1"/>
          <a:stretch>
            <a:fillRect/>
          </a:stretch>
        </p:blipFill>
        <p:spPr>
          <a:xfrm>
            <a:off x="3488187" y="3474720"/>
            <a:ext cx="5666874" cy="3383280"/>
          </a:xfrm>
          <a:prstGeom prst="rect">
            <a:avLst/>
          </a:prstGeom>
        </p:spPr>
      </p:pic>
      <p:sp useBgFill="1">
        <p:nvSpPr>
          <p:cNvPr id="19" name="Freeform: Shape 18">
            <a:extLst>
              <a:ext uri="{FF2B5EF4-FFF2-40B4-BE49-F238E27FC236}">
                <a16:creationId xmlns:a16="http://schemas.microsoft.com/office/drawing/2014/main" id="{6A6EF10E-DF41-4BD3-8EB4-6F646531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83204" cy="6858000"/>
          </a:xfrm>
          <a:custGeom>
            <a:avLst/>
            <a:gdLst>
              <a:gd name="connsiteX0" fmla="*/ 0 w 6244272"/>
              <a:gd name="connsiteY0" fmla="*/ 0 h 6858000"/>
              <a:gd name="connsiteX1" fmla="*/ 732568 w 6244272"/>
              <a:gd name="connsiteY1" fmla="*/ 0 h 6858000"/>
              <a:gd name="connsiteX2" fmla="*/ 947849 w 6244272"/>
              <a:gd name="connsiteY2" fmla="*/ 0 h 6858000"/>
              <a:gd name="connsiteX3" fmla="*/ 1823619 w 6244272"/>
              <a:gd name="connsiteY3" fmla="*/ 0 h 6858000"/>
              <a:gd name="connsiteX4" fmla="*/ 5235673 w 6244272"/>
              <a:gd name="connsiteY4" fmla="*/ 0 h 6858000"/>
              <a:gd name="connsiteX5" fmla="*/ 4933297 w 6244272"/>
              <a:gd name="connsiteY5" fmla="*/ 110269 h 6858000"/>
              <a:gd name="connsiteX6" fmla="*/ 4976910 w 6244272"/>
              <a:gd name="connsiteY6" fmla="*/ 135168 h 6858000"/>
              <a:gd name="connsiteX7" fmla="*/ 5238580 w 6244272"/>
              <a:gd name="connsiteY7" fmla="*/ 71141 h 6858000"/>
              <a:gd name="connsiteX8" fmla="*/ 5290914 w 6244272"/>
              <a:gd name="connsiteY8" fmla="*/ 88927 h 6858000"/>
              <a:gd name="connsiteX9" fmla="*/ 5264747 w 6244272"/>
              <a:gd name="connsiteY9" fmla="*/ 163625 h 6858000"/>
              <a:gd name="connsiteX10" fmla="*/ 5151357 w 6244272"/>
              <a:gd name="connsiteY10" fmla="*/ 192082 h 6858000"/>
              <a:gd name="connsiteX11" fmla="*/ 4974002 w 6244272"/>
              <a:gd name="connsiteY11" fmla="*/ 373491 h 6858000"/>
              <a:gd name="connsiteX12" fmla="*/ 5241488 w 6244272"/>
              <a:gd name="connsiteY12" fmla="*/ 352148 h 6858000"/>
              <a:gd name="connsiteX13" fmla="*/ 5288007 w 6244272"/>
              <a:gd name="connsiteY13" fmla="*/ 394834 h 6858000"/>
              <a:gd name="connsiteX14" fmla="*/ 5305452 w 6244272"/>
              <a:gd name="connsiteY14" fmla="*/ 451747 h 6858000"/>
              <a:gd name="connsiteX15" fmla="*/ 5383953 w 6244272"/>
              <a:gd name="connsiteY15" fmla="*/ 359262 h 6858000"/>
              <a:gd name="connsiteX16" fmla="*/ 5450825 w 6244272"/>
              <a:gd name="connsiteY16" fmla="*/ 334364 h 6858000"/>
              <a:gd name="connsiteX17" fmla="*/ 5471177 w 6244272"/>
              <a:gd name="connsiteY17" fmla="*/ 416176 h 6858000"/>
              <a:gd name="connsiteX18" fmla="*/ 5410121 w 6244272"/>
              <a:gd name="connsiteY18" fmla="*/ 505101 h 6858000"/>
              <a:gd name="connsiteX19" fmla="*/ 5247303 w 6244272"/>
              <a:gd name="connsiteY19" fmla="*/ 558458 h 6858000"/>
              <a:gd name="connsiteX20" fmla="*/ 5421750 w 6244272"/>
              <a:gd name="connsiteY20" fmla="*/ 558458 h 6858000"/>
              <a:gd name="connsiteX21" fmla="*/ 5622364 w 6244272"/>
              <a:gd name="connsiteY21" fmla="*/ 522887 h 6858000"/>
              <a:gd name="connsiteX22" fmla="*/ 5834608 w 6244272"/>
              <a:gd name="connsiteY22" fmla="*/ 533558 h 6858000"/>
              <a:gd name="connsiteX23" fmla="*/ 6035223 w 6244272"/>
              <a:gd name="connsiteY23" fmla="*/ 462417 h 6858000"/>
              <a:gd name="connsiteX24" fmla="*/ 6238745 w 6244272"/>
              <a:gd name="connsiteY24" fmla="*/ 465975 h 6858000"/>
              <a:gd name="connsiteX25" fmla="*/ 5337434 w 6244272"/>
              <a:gd name="connsiteY25" fmla="*/ 910606 h 6858000"/>
              <a:gd name="connsiteX26" fmla="*/ 5381046 w 6244272"/>
              <a:gd name="connsiteY26" fmla="*/ 921277 h 6858000"/>
              <a:gd name="connsiteX27" fmla="*/ 5439195 w 6244272"/>
              <a:gd name="connsiteY27" fmla="*/ 949734 h 6858000"/>
              <a:gd name="connsiteX28" fmla="*/ 5395583 w 6244272"/>
              <a:gd name="connsiteY28" fmla="*/ 1006647 h 6858000"/>
              <a:gd name="connsiteX29" fmla="*/ 5160079 w 6244272"/>
              <a:gd name="connsiteY29" fmla="*/ 1113358 h 6858000"/>
              <a:gd name="connsiteX30" fmla="*/ 5101930 w 6244272"/>
              <a:gd name="connsiteY30" fmla="*/ 1220069 h 6858000"/>
              <a:gd name="connsiteX31" fmla="*/ 5174617 w 6244272"/>
              <a:gd name="connsiteY31" fmla="*/ 1209399 h 6858000"/>
              <a:gd name="connsiteX32" fmla="*/ 5238580 w 6244272"/>
              <a:gd name="connsiteY32" fmla="*/ 1230741 h 6858000"/>
              <a:gd name="connsiteX33" fmla="*/ 5212414 w 6244272"/>
              <a:gd name="connsiteY33" fmla="*/ 1365909 h 6858000"/>
              <a:gd name="connsiteX34" fmla="*/ 4878056 w 6244272"/>
              <a:gd name="connsiteY34" fmla="*/ 1540204 h 6858000"/>
              <a:gd name="connsiteX35" fmla="*/ 4848982 w 6244272"/>
              <a:gd name="connsiteY35" fmla="*/ 1597117 h 6858000"/>
              <a:gd name="connsiteX36" fmla="*/ 4889686 w 6244272"/>
              <a:gd name="connsiteY36" fmla="*/ 1636245 h 6858000"/>
              <a:gd name="connsiteX37" fmla="*/ 4997261 w 6244272"/>
              <a:gd name="connsiteY37" fmla="*/ 1657587 h 6858000"/>
              <a:gd name="connsiteX38" fmla="*/ 4846074 w 6244272"/>
              <a:gd name="connsiteY38" fmla="*/ 1849668 h 6858000"/>
              <a:gd name="connsiteX39" fmla="*/ 4790832 w 6244272"/>
              <a:gd name="connsiteY39" fmla="*/ 1903025 h 6858000"/>
              <a:gd name="connsiteX40" fmla="*/ 4694886 w 6244272"/>
              <a:gd name="connsiteY40" fmla="*/ 1984836 h 6858000"/>
              <a:gd name="connsiteX41" fmla="*/ 4694886 w 6244272"/>
              <a:gd name="connsiteY41" fmla="*/ 2013292 h 6858000"/>
              <a:gd name="connsiteX42" fmla="*/ 4822814 w 6244272"/>
              <a:gd name="connsiteY42" fmla="*/ 2102219 h 6858000"/>
              <a:gd name="connsiteX43" fmla="*/ 5055411 w 6244272"/>
              <a:gd name="connsiteY43" fmla="*/ 2077320 h 6858000"/>
              <a:gd name="connsiteX44" fmla="*/ 4712331 w 6244272"/>
              <a:gd name="connsiteY44" fmla="*/ 2208931 h 6858000"/>
              <a:gd name="connsiteX45" fmla="*/ 5822979 w 6244272"/>
              <a:gd name="connsiteY45" fmla="*/ 1892353 h 6858000"/>
              <a:gd name="connsiteX46" fmla="*/ 5753200 w 6244272"/>
              <a:gd name="connsiteY46" fmla="*/ 1974165 h 6858000"/>
              <a:gd name="connsiteX47" fmla="*/ 5363601 w 6244272"/>
              <a:gd name="connsiteY47" fmla="*/ 2191146 h 6858000"/>
              <a:gd name="connsiteX48" fmla="*/ 5253118 w 6244272"/>
              <a:gd name="connsiteY48" fmla="*/ 2326314 h 6858000"/>
              <a:gd name="connsiteX49" fmla="*/ 5136819 w 6244272"/>
              <a:gd name="connsiteY49" fmla="*/ 2401012 h 6858000"/>
              <a:gd name="connsiteX50" fmla="*/ 4974002 w 6244272"/>
              <a:gd name="connsiteY50" fmla="*/ 2401012 h 6858000"/>
              <a:gd name="connsiteX51" fmla="*/ 4857704 w 6244272"/>
              <a:gd name="connsiteY51" fmla="*/ 2518395 h 6858000"/>
              <a:gd name="connsiteX52" fmla="*/ 4976910 w 6244272"/>
              <a:gd name="connsiteY52" fmla="*/ 2543294 h 6858000"/>
              <a:gd name="connsiteX53" fmla="*/ 5116467 w 6244272"/>
              <a:gd name="connsiteY53" fmla="*/ 2525509 h 6858000"/>
              <a:gd name="connsiteX54" fmla="*/ 5273470 w 6244272"/>
              <a:gd name="connsiteY54" fmla="*/ 2564636 h 6858000"/>
              <a:gd name="connsiteX55" fmla="*/ 5418843 w 6244272"/>
              <a:gd name="connsiteY55" fmla="*/ 2532623 h 6858000"/>
              <a:gd name="connsiteX56" fmla="*/ 5593290 w 6244272"/>
              <a:gd name="connsiteY56" fmla="*/ 2553965 h 6858000"/>
              <a:gd name="connsiteX57" fmla="*/ 5648532 w 6244272"/>
              <a:gd name="connsiteY57" fmla="*/ 2692689 h 6858000"/>
              <a:gd name="connsiteX58" fmla="*/ 5665976 w 6244272"/>
              <a:gd name="connsiteY58" fmla="*/ 2703362 h 6858000"/>
              <a:gd name="connsiteX59" fmla="*/ 5988704 w 6244272"/>
              <a:gd name="connsiteY59" fmla="*/ 2923898 h 6858000"/>
              <a:gd name="connsiteX60" fmla="*/ 6078835 w 6244272"/>
              <a:gd name="connsiteY60" fmla="*/ 2941684 h 6858000"/>
              <a:gd name="connsiteX61" fmla="*/ 5546771 w 6244272"/>
              <a:gd name="connsiteY61" fmla="*/ 3329402 h 6858000"/>
              <a:gd name="connsiteX62" fmla="*/ 5904388 w 6244272"/>
              <a:gd name="connsiteY62" fmla="*/ 3229805 h 6858000"/>
              <a:gd name="connsiteX63" fmla="*/ 5953814 w 6244272"/>
              <a:gd name="connsiteY63" fmla="*/ 3393429 h 6858000"/>
              <a:gd name="connsiteX64" fmla="*/ 5785182 w 6244272"/>
              <a:gd name="connsiteY64" fmla="*/ 3539269 h 6858000"/>
              <a:gd name="connsiteX65" fmla="*/ 5724125 w 6244272"/>
              <a:gd name="connsiteY65" fmla="*/ 3827390 h 6858000"/>
              <a:gd name="connsiteX66" fmla="*/ 5753200 w 6244272"/>
              <a:gd name="connsiteY66" fmla="*/ 4090612 h 6858000"/>
              <a:gd name="connsiteX67" fmla="*/ 5825886 w 6244272"/>
              <a:gd name="connsiteY67" fmla="*/ 4172424 h 6858000"/>
              <a:gd name="connsiteX68" fmla="*/ 5930554 w 6244272"/>
              <a:gd name="connsiteY68" fmla="*/ 4321821 h 6858000"/>
              <a:gd name="connsiteX69" fmla="*/ 5994519 w 6244272"/>
              <a:gd name="connsiteY69" fmla="*/ 4414305 h 6858000"/>
              <a:gd name="connsiteX70" fmla="*/ 6218393 w 6244272"/>
              <a:gd name="connsiteY70" fmla="*/ 4378734 h 6858000"/>
              <a:gd name="connsiteX71" fmla="*/ 5918925 w 6244272"/>
              <a:gd name="connsiteY71" fmla="*/ 4613499 h 6858000"/>
              <a:gd name="connsiteX72" fmla="*/ 6160243 w 6244272"/>
              <a:gd name="connsiteY72" fmla="*/ 4585042 h 6858000"/>
              <a:gd name="connsiteX73" fmla="*/ 6238745 w 6244272"/>
              <a:gd name="connsiteY73" fmla="*/ 4602828 h 6858000"/>
              <a:gd name="connsiteX74" fmla="*/ 6195133 w 6244272"/>
              <a:gd name="connsiteY74" fmla="*/ 4677526 h 6858000"/>
              <a:gd name="connsiteX75" fmla="*/ 6017778 w 6244272"/>
              <a:gd name="connsiteY75" fmla="*/ 4805580 h 6858000"/>
              <a:gd name="connsiteX76" fmla="*/ 5651439 w 6244272"/>
              <a:gd name="connsiteY76" fmla="*/ 5154171 h 6858000"/>
              <a:gd name="connsiteX77" fmla="*/ 6006149 w 6244272"/>
              <a:gd name="connsiteY77" fmla="*/ 4994104 h 6858000"/>
              <a:gd name="connsiteX78" fmla="*/ 5633994 w 6244272"/>
              <a:gd name="connsiteY78" fmla="*/ 5353367 h 6858000"/>
              <a:gd name="connsiteX79" fmla="*/ 5552586 w 6244272"/>
              <a:gd name="connsiteY79" fmla="*/ 5474306 h 6858000"/>
              <a:gd name="connsiteX80" fmla="*/ 5383953 w 6244272"/>
              <a:gd name="connsiteY80" fmla="*/ 5769542 h 6858000"/>
              <a:gd name="connsiteX81" fmla="*/ 5392675 w 6244272"/>
              <a:gd name="connsiteY81" fmla="*/ 5801555 h 6858000"/>
              <a:gd name="connsiteX82" fmla="*/ 5584568 w 6244272"/>
              <a:gd name="connsiteY82" fmla="*/ 5755314 h 6858000"/>
              <a:gd name="connsiteX83" fmla="*/ 5334526 w 6244272"/>
              <a:gd name="connsiteY83" fmla="*/ 6004307 h 6858000"/>
              <a:gd name="connsiteX84" fmla="*/ 5075763 w 6244272"/>
              <a:gd name="connsiteY84" fmla="*/ 6196388 h 6858000"/>
              <a:gd name="connsiteX85" fmla="*/ 5258933 w 6244272"/>
              <a:gd name="connsiteY85" fmla="*/ 6167932 h 6858000"/>
              <a:gd name="connsiteX86" fmla="*/ 5511881 w 6244272"/>
              <a:gd name="connsiteY86" fmla="*/ 6057663 h 6858000"/>
              <a:gd name="connsiteX87" fmla="*/ 5599105 w 6244272"/>
              <a:gd name="connsiteY87" fmla="*/ 6100347 h 6858000"/>
              <a:gd name="connsiteX88" fmla="*/ 5360693 w 6244272"/>
              <a:gd name="connsiteY88" fmla="*/ 6281757 h 6858000"/>
              <a:gd name="connsiteX89" fmla="*/ 5224043 w 6244272"/>
              <a:gd name="connsiteY89" fmla="*/ 6367127 h 6858000"/>
              <a:gd name="connsiteX90" fmla="*/ 5168801 w 6244272"/>
              <a:gd name="connsiteY90" fmla="*/ 6431153 h 6858000"/>
              <a:gd name="connsiteX91" fmla="*/ 5011799 w 6244272"/>
              <a:gd name="connsiteY91" fmla="*/ 6658805 h 6858000"/>
              <a:gd name="connsiteX92" fmla="*/ 4651275 w 6244272"/>
              <a:gd name="connsiteY92" fmla="*/ 6858000 h 6858000"/>
              <a:gd name="connsiteX93" fmla="*/ 1823619 w 6244272"/>
              <a:gd name="connsiteY93" fmla="*/ 6858000 h 6858000"/>
              <a:gd name="connsiteX94" fmla="*/ 947849 w 6244272"/>
              <a:gd name="connsiteY94" fmla="*/ 6858000 h 6858000"/>
              <a:gd name="connsiteX95" fmla="*/ 732568 w 6244272"/>
              <a:gd name="connsiteY95" fmla="*/ 6858000 h 6858000"/>
              <a:gd name="connsiteX96" fmla="*/ 0 w 6244272"/>
              <a:gd name="connsiteY9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244272" h="6858000">
                <a:moveTo>
                  <a:pt x="0" y="0"/>
                </a:moveTo>
                <a:lnTo>
                  <a:pt x="732568" y="0"/>
                </a:lnTo>
                <a:lnTo>
                  <a:pt x="947849" y="0"/>
                </a:lnTo>
                <a:lnTo>
                  <a:pt x="1823619" y="0"/>
                </a:lnTo>
                <a:lnTo>
                  <a:pt x="5235673" y="0"/>
                </a:lnTo>
                <a:cubicBezTo>
                  <a:pt x="5133912" y="35571"/>
                  <a:pt x="5035058" y="78255"/>
                  <a:pt x="4933297" y="110269"/>
                </a:cubicBezTo>
                <a:cubicBezTo>
                  <a:pt x="4947835" y="145839"/>
                  <a:pt x="4962372" y="138725"/>
                  <a:pt x="4976910" y="135168"/>
                </a:cubicBezTo>
                <a:cubicBezTo>
                  <a:pt x="5064133" y="120941"/>
                  <a:pt x="5154264" y="110269"/>
                  <a:pt x="5238580" y="71141"/>
                </a:cubicBezTo>
                <a:cubicBezTo>
                  <a:pt x="5258933" y="64027"/>
                  <a:pt x="5282192" y="64027"/>
                  <a:pt x="5290914" y="88927"/>
                </a:cubicBezTo>
                <a:cubicBezTo>
                  <a:pt x="5305452" y="124497"/>
                  <a:pt x="5285100" y="145839"/>
                  <a:pt x="5264747" y="163625"/>
                </a:cubicBezTo>
                <a:cubicBezTo>
                  <a:pt x="5229858" y="195638"/>
                  <a:pt x="5189154" y="188525"/>
                  <a:pt x="5151357" y="192082"/>
                </a:cubicBezTo>
                <a:cubicBezTo>
                  <a:pt x="5046689" y="209867"/>
                  <a:pt x="4997261" y="259665"/>
                  <a:pt x="4974002" y="373491"/>
                </a:cubicBezTo>
                <a:cubicBezTo>
                  <a:pt x="5064133" y="327250"/>
                  <a:pt x="5154264" y="384162"/>
                  <a:pt x="5241488" y="352148"/>
                </a:cubicBezTo>
                <a:cubicBezTo>
                  <a:pt x="5264747" y="345034"/>
                  <a:pt x="5299637" y="355706"/>
                  <a:pt x="5288007" y="394834"/>
                </a:cubicBezTo>
                <a:cubicBezTo>
                  <a:pt x="5276378" y="430405"/>
                  <a:pt x="5238580" y="458860"/>
                  <a:pt x="5305452" y="451747"/>
                </a:cubicBezTo>
                <a:cubicBezTo>
                  <a:pt x="5354879" y="448189"/>
                  <a:pt x="5369416" y="405504"/>
                  <a:pt x="5383953" y="359262"/>
                </a:cubicBezTo>
                <a:cubicBezTo>
                  <a:pt x="5395583" y="334364"/>
                  <a:pt x="5427565" y="320135"/>
                  <a:pt x="5450825" y="334364"/>
                </a:cubicBezTo>
                <a:cubicBezTo>
                  <a:pt x="5479899" y="348592"/>
                  <a:pt x="5471177" y="387720"/>
                  <a:pt x="5471177" y="416176"/>
                </a:cubicBezTo>
                <a:cubicBezTo>
                  <a:pt x="5474085" y="469532"/>
                  <a:pt x="5450825" y="494431"/>
                  <a:pt x="5410121" y="505101"/>
                </a:cubicBezTo>
                <a:cubicBezTo>
                  <a:pt x="5360693" y="519330"/>
                  <a:pt x="5311267" y="537116"/>
                  <a:pt x="5247303" y="558458"/>
                </a:cubicBezTo>
                <a:cubicBezTo>
                  <a:pt x="5317082" y="594028"/>
                  <a:pt x="5369416" y="586915"/>
                  <a:pt x="5421750" y="558458"/>
                </a:cubicBezTo>
                <a:cubicBezTo>
                  <a:pt x="5485714" y="526444"/>
                  <a:pt x="5570030" y="483759"/>
                  <a:pt x="5622364" y="522887"/>
                </a:cubicBezTo>
                <a:cubicBezTo>
                  <a:pt x="5700865" y="579800"/>
                  <a:pt x="5764829" y="544229"/>
                  <a:pt x="5834608" y="533558"/>
                </a:cubicBezTo>
                <a:cubicBezTo>
                  <a:pt x="5979982" y="512216"/>
                  <a:pt x="5889850" y="480203"/>
                  <a:pt x="6035223" y="462417"/>
                </a:cubicBezTo>
                <a:cubicBezTo>
                  <a:pt x="6093372" y="455303"/>
                  <a:pt x="6154429" y="426847"/>
                  <a:pt x="6238745" y="465975"/>
                </a:cubicBezTo>
                <a:cubicBezTo>
                  <a:pt x="5857868" y="672284"/>
                  <a:pt x="5677606" y="658055"/>
                  <a:pt x="5337434" y="910606"/>
                </a:cubicBezTo>
                <a:cubicBezTo>
                  <a:pt x="5351971" y="935506"/>
                  <a:pt x="5366508" y="924835"/>
                  <a:pt x="5381046" y="921277"/>
                </a:cubicBezTo>
                <a:cubicBezTo>
                  <a:pt x="5404305" y="917720"/>
                  <a:pt x="5433380" y="903491"/>
                  <a:pt x="5439195" y="949734"/>
                </a:cubicBezTo>
                <a:cubicBezTo>
                  <a:pt x="5442103" y="985305"/>
                  <a:pt x="5424657" y="1003089"/>
                  <a:pt x="5395583" y="1006647"/>
                </a:cubicBezTo>
                <a:cubicBezTo>
                  <a:pt x="5311267" y="1020875"/>
                  <a:pt x="5235673" y="1070674"/>
                  <a:pt x="5160079" y="1113358"/>
                </a:cubicBezTo>
                <a:cubicBezTo>
                  <a:pt x="5125190" y="1131144"/>
                  <a:pt x="5087393" y="1156043"/>
                  <a:pt x="5101930" y="1220069"/>
                </a:cubicBezTo>
                <a:cubicBezTo>
                  <a:pt x="5131004" y="1237855"/>
                  <a:pt x="5151357" y="1212955"/>
                  <a:pt x="5174617" y="1209399"/>
                </a:cubicBezTo>
                <a:cubicBezTo>
                  <a:pt x="5197876" y="1205842"/>
                  <a:pt x="5253118" y="1220069"/>
                  <a:pt x="5238580" y="1230741"/>
                </a:cubicBezTo>
                <a:cubicBezTo>
                  <a:pt x="5171709" y="1269868"/>
                  <a:pt x="5293822" y="1365909"/>
                  <a:pt x="5212414" y="1365909"/>
                </a:cubicBezTo>
                <a:cubicBezTo>
                  <a:pt x="5078671" y="1365909"/>
                  <a:pt x="5005984" y="1536647"/>
                  <a:pt x="4878056" y="1540204"/>
                </a:cubicBezTo>
                <a:cubicBezTo>
                  <a:pt x="4857704" y="1540204"/>
                  <a:pt x="4848982" y="1572219"/>
                  <a:pt x="4848982" y="1597117"/>
                </a:cubicBezTo>
                <a:cubicBezTo>
                  <a:pt x="4848982" y="1629132"/>
                  <a:pt x="4869333" y="1632688"/>
                  <a:pt x="4889686" y="1636245"/>
                </a:cubicBezTo>
                <a:cubicBezTo>
                  <a:pt x="4921668" y="1639802"/>
                  <a:pt x="4956557" y="1597117"/>
                  <a:pt x="4997261" y="1657587"/>
                </a:cubicBezTo>
                <a:cubicBezTo>
                  <a:pt x="4921668" y="1693158"/>
                  <a:pt x="4843167" y="1728729"/>
                  <a:pt x="4846074" y="1849668"/>
                </a:cubicBezTo>
                <a:cubicBezTo>
                  <a:pt x="4846074" y="1881683"/>
                  <a:pt x="4814092" y="1895910"/>
                  <a:pt x="4790832" y="1903025"/>
                </a:cubicBezTo>
                <a:cubicBezTo>
                  <a:pt x="4750128" y="1917252"/>
                  <a:pt x="4718146" y="1938595"/>
                  <a:pt x="4694886" y="1984836"/>
                </a:cubicBezTo>
                <a:cubicBezTo>
                  <a:pt x="4694886" y="1995507"/>
                  <a:pt x="4694886" y="2002622"/>
                  <a:pt x="4694886" y="2013292"/>
                </a:cubicBezTo>
                <a:cubicBezTo>
                  <a:pt x="4700701" y="2123562"/>
                  <a:pt x="4758850" y="2120004"/>
                  <a:pt x="4822814" y="2102219"/>
                </a:cubicBezTo>
                <a:cubicBezTo>
                  <a:pt x="4898408" y="2080877"/>
                  <a:pt x="4974002" y="2038192"/>
                  <a:pt x="5055411" y="2077320"/>
                </a:cubicBezTo>
                <a:cubicBezTo>
                  <a:pt x="4942020" y="2130676"/>
                  <a:pt x="4817000" y="2134233"/>
                  <a:pt x="4712331" y="2208931"/>
                </a:cubicBezTo>
                <a:cubicBezTo>
                  <a:pt x="5101930" y="2223159"/>
                  <a:pt x="5445010" y="1984836"/>
                  <a:pt x="5822979" y="1892353"/>
                </a:cubicBezTo>
                <a:cubicBezTo>
                  <a:pt x="5811349" y="1952823"/>
                  <a:pt x="5779367" y="1967051"/>
                  <a:pt x="5753200" y="1974165"/>
                </a:cubicBezTo>
                <a:cubicBezTo>
                  <a:pt x="5613642" y="2020407"/>
                  <a:pt x="5491529" y="2112891"/>
                  <a:pt x="5363601" y="2191146"/>
                </a:cubicBezTo>
                <a:cubicBezTo>
                  <a:pt x="5311267" y="2223159"/>
                  <a:pt x="5273470" y="2258731"/>
                  <a:pt x="5253118" y="2326314"/>
                </a:cubicBezTo>
                <a:cubicBezTo>
                  <a:pt x="5235673" y="2390340"/>
                  <a:pt x="5200783" y="2418796"/>
                  <a:pt x="5136819" y="2401012"/>
                </a:cubicBezTo>
                <a:cubicBezTo>
                  <a:pt x="5084485" y="2386784"/>
                  <a:pt x="5029243" y="2393898"/>
                  <a:pt x="4974002" y="2401012"/>
                </a:cubicBezTo>
                <a:cubicBezTo>
                  <a:pt x="4912946" y="2408126"/>
                  <a:pt x="4843167" y="2479267"/>
                  <a:pt x="4857704" y="2518395"/>
                </a:cubicBezTo>
                <a:cubicBezTo>
                  <a:pt x="4886778" y="2582422"/>
                  <a:pt x="4936205" y="2550408"/>
                  <a:pt x="4976910" y="2543294"/>
                </a:cubicBezTo>
                <a:cubicBezTo>
                  <a:pt x="5026336" y="2536181"/>
                  <a:pt x="5116467" y="2518395"/>
                  <a:pt x="5116467" y="2525509"/>
                </a:cubicBezTo>
                <a:cubicBezTo>
                  <a:pt x="5148450" y="2685576"/>
                  <a:pt x="5221136" y="2564636"/>
                  <a:pt x="5273470" y="2564636"/>
                </a:cubicBezTo>
                <a:cubicBezTo>
                  <a:pt x="5322897" y="2564636"/>
                  <a:pt x="5372323" y="2546851"/>
                  <a:pt x="5418843" y="2532623"/>
                </a:cubicBezTo>
                <a:cubicBezTo>
                  <a:pt x="5479899" y="2514837"/>
                  <a:pt x="5535140" y="2546851"/>
                  <a:pt x="5593290" y="2553965"/>
                </a:cubicBezTo>
                <a:cubicBezTo>
                  <a:pt x="5645624" y="2561080"/>
                  <a:pt x="5616550" y="2653563"/>
                  <a:pt x="5648532" y="2692689"/>
                </a:cubicBezTo>
                <a:cubicBezTo>
                  <a:pt x="5654346" y="2703362"/>
                  <a:pt x="5660161" y="2703362"/>
                  <a:pt x="5665976" y="2703362"/>
                </a:cubicBezTo>
                <a:cubicBezTo>
                  <a:pt x="5683421" y="2980812"/>
                  <a:pt x="5988704" y="2913227"/>
                  <a:pt x="5988704" y="2923898"/>
                </a:cubicBezTo>
                <a:cubicBezTo>
                  <a:pt x="6014871" y="2941684"/>
                  <a:pt x="6046853" y="2899000"/>
                  <a:pt x="6078835" y="2941684"/>
                </a:cubicBezTo>
                <a:cubicBezTo>
                  <a:pt x="5942185" y="3137322"/>
                  <a:pt x="5732847" y="3183563"/>
                  <a:pt x="5546771" y="3329402"/>
                </a:cubicBezTo>
                <a:cubicBezTo>
                  <a:pt x="5700865" y="3379202"/>
                  <a:pt x="5790997" y="3208463"/>
                  <a:pt x="5904388" y="3229805"/>
                </a:cubicBezTo>
                <a:cubicBezTo>
                  <a:pt x="5959629" y="3283162"/>
                  <a:pt x="5793904" y="3368530"/>
                  <a:pt x="5953814" y="3393429"/>
                </a:cubicBezTo>
                <a:cubicBezTo>
                  <a:pt x="5884036" y="3439672"/>
                  <a:pt x="5834608" y="3485914"/>
                  <a:pt x="5785182" y="3539269"/>
                </a:cubicBezTo>
                <a:cubicBezTo>
                  <a:pt x="5700865" y="3635309"/>
                  <a:pt x="5683421" y="3699337"/>
                  <a:pt x="5724125" y="3827390"/>
                </a:cubicBezTo>
                <a:cubicBezTo>
                  <a:pt x="5750293" y="3912759"/>
                  <a:pt x="5788089" y="3991015"/>
                  <a:pt x="5753200" y="4090612"/>
                </a:cubicBezTo>
                <a:cubicBezTo>
                  <a:pt x="5729940" y="4158196"/>
                  <a:pt x="5738663" y="4204438"/>
                  <a:pt x="5825886" y="4172424"/>
                </a:cubicBezTo>
                <a:cubicBezTo>
                  <a:pt x="5918925" y="4140411"/>
                  <a:pt x="5953814" y="4200882"/>
                  <a:pt x="5930554" y="4321821"/>
                </a:cubicBezTo>
                <a:cubicBezTo>
                  <a:pt x="5916018" y="4400076"/>
                  <a:pt x="5930554" y="4424975"/>
                  <a:pt x="5994519" y="4414305"/>
                </a:cubicBezTo>
                <a:cubicBezTo>
                  <a:pt x="6064297" y="4403633"/>
                  <a:pt x="6131169" y="4353835"/>
                  <a:pt x="6218393" y="4378734"/>
                </a:cubicBezTo>
                <a:cubicBezTo>
                  <a:pt x="6148614" y="4521016"/>
                  <a:pt x="6000333" y="4478331"/>
                  <a:pt x="5918925" y="4613499"/>
                </a:cubicBezTo>
                <a:cubicBezTo>
                  <a:pt x="6014871" y="4613499"/>
                  <a:pt x="6090465" y="4613499"/>
                  <a:pt x="6160243" y="4585042"/>
                </a:cubicBezTo>
                <a:cubicBezTo>
                  <a:pt x="6189318" y="4574373"/>
                  <a:pt x="6221300" y="4560144"/>
                  <a:pt x="6238745" y="4602828"/>
                </a:cubicBezTo>
                <a:cubicBezTo>
                  <a:pt x="6259098" y="4652628"/>
                  <a:pt x="6218393" y="4670412"/>
                  <a:pt x="6195133" y="4677526"/>
                </a:cubicBezTo>
                <a:cubicBezTo>
                  <a:pt x="6128261" y="4702425"/>
                  <a:pt x="6075928" y="4759339"/>
                  <a:pt x="6017778" y="4805580"/>
                </a:cubicBezTo>
                <a:cubicBezTo>
                  <a:pt x="5892758" y="4905177"/>
                  <a:pt x="5756107" y="4990547"/>
                  <a:pt x="5651439" y="5154171"/>
                </a:cubicBezTo>
                <a:cubicBezTo>
                  <a:pt x="5782275" y="5111487"/>
                  <a:pt x="5881128" y="5011889"/>
                  <a:pt x="6006149" y="4994104"/>
                </a:cubicBezTo>
                <a:cubicBezTo>
                  <a:pt x="5898572" y="5143500"/>
                  <a:pt x="5761922" y="5243097"/>
                  <a:pt x="5633994" y="5353367"/>
                </a:cubicBezTo>
                <a:cubicBezTo>
                  <a:pt x="5596197" y="5385379"/>
                  <a:pt x="5558400" y="5406721"/>
                  <a:pt x="5552586" y="5474306"/>
                </a:cubicBezTo>
                <a:cubicBezTo>
                  <a:pt x="5535140" y="5605917"/>
                  <a:pt x="5488622" y="5712629"/>
                  <a:pt x="5383953" y="5769542"/>
                </a:cubicBezTo>
                <a:cubicBezTo>
                  <a:pt x="5383953" y="5769542"/>
                  <a:pt x="5389768" y="5790884"/>
                  <a:pt x="5392675" y="5801555"/>
                </a:cubicBezTo>
                <a:cubicBezTo>
                  <a:pt x="5456640" y="5805112"/>
                  <a:pt x="5506066" y="5726858"/>
                  <a:pt x="5584568" y="5755314"/>
                </a:cubicBezTo>
                <a:cubicBezTo>
                  <a:pt x="5506066" y="5862025"/>
                  <a:pt x="5442103" y="5954508"/>
                  <a:pt x="5334526" y="6004307"/>
                </a:cubicBezTo>
                <a:cubicBezTo>
                  <a:pt x="5247303" y="6043434"/>
                  <a:pt x="5139727" y="6068335"/>
                  <a:pt x="5075763" y="6196388"/>
                </a:cubicBezTo>
                <a:cubicBezTo>
                  <a:pt x="5148450" y="6221287"/>
                  <a:pt x="5203691" y="6189274"/>
                  <a:pt x="5258933" y="6167932"/>
                </a:cubicBezTo>
                <a:cubicBezTo>
                  <a:pt x="5343249" y="6132361"/>
                  <a:pt x="5427565" y="6093234"/>
                  <a:pt x="5511881" y="6057663"/>
                </a:cubicBezTo>
                <a:cubicBezTo>
                  <a:pt x="5543864" y="6043434"/>
                  <a:pt x="5578753" y="6036320"/>
                  <a:pt x="5599105" y="6100347"/>
                </a:cubicBezTo>
                <a:cubicBezTo>
                  <a:pt x="5491529" y="6114575"/>
                  <a:pt x="5427565" y="6199945"/>
                  <a:pt x="5360693" y="6281757"/>
                </a:cubicBezTo>
                <a:cubicBezTo>
                  <a:pt x="5322897" y="6327999"/>
                  <a:pt x="5290914" y="6388469"/>
                  <a:pt x="5224043" y="6367127"/>
                </a:cubicBezTo>
                <a:cubicBezTo>
                  <a:pt x="5189154" y="6356456"/>
                  <a:pt x="5165894" y="6388469"/>
                  <a:pt x="5168801" y="6431153"/>
                </a:cubicBezTo>
                <a:cubicBezTo>
                  <a:pt x="5183339" y="6580550"/>
                  <a:pt x="5099022" y="6630349"/>
                  <a:pt x="5011799" y="6658805"/>
                </a:cubicBezTo>
                <a:cubicBezTo>
                  <a:pt x="4883871" y="6701489"/>
                  <a:pt x="4770480" y="6786859"/>
                  <a:pt x="4651275" y="6858000"/>
                </a:cubicBezTo>
                <a:lnTo>
                  <a:pt x="1823619" y="6858000"/>
                </a:lnTo>
                <a:lnTo>
                  <a:pt x="947849" y="6858000"/>
                </a:lnTo>
                <a:lnTo>
                  <a:pt x="732568"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0E5A1F-6D5A-0552-01DD-8EEFD2F08794}"/>
              </a:ext>
            </a:extLst>
          </p:cNvPr>
          <p:cNvSpPr>
            <a:spLocks noGrp="1"/>
          </p:cNvSpPr>
          <p:nvPr>
            <p:ph type="title"/>
          </p:nvPr>
        </p:nvSpPr>
        <p:spPr>
          <a:xfrm>
            <a:off x="482601" y="609600"/>
            <a:ext cx="2994525" cy="3877197"/>
          </a:xfrm>
        </p:spPr>
        <p:txBody>
          <a:bodyPr vert="horz" lIns="91440" tIns="45720" rIns="91440" bIns="45720" rtlCol="0" anchor="b">
            <a:normAutofit/>
          </a:bodyPr>
          <a:lstStyle/>
          <a:p>
            <a:pPr algn="l" defTabSz="914400">
              <a:lnSpc>
                <a:spcPct val="90000"/>
              </a:lnSpc>
            </a:pPr>
            <a:r>
              <a:rPr lang="en-US" sz="3800" kern="1200" dirty="0">
                <a:solidFill>
                  <a:schemeClr val="tx1"/>
                </a:solidFill>
                <a:latin typeface="+mj-lt"/>
                <a:ea typeface="+mj-ea"/>
                <a:cs typeface="+mj-cs"/>
              </a:rPr>
              <a:t>Model Comparison and Summary</a:t>
            </a:r>
          </a:p>
        </p:txBody>
      </p:sp>
    </p:spTree>
    <p:extLst>
      <p:ext uri="{BB962C8B-B14F-4D97-AF65-F5344CB8AC3E}">
        <p14:creationId xmlns:p14="http://schemas.microsoft.com/office/powerpoint/2010/main" val="352337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FEA6DB-AD74-ED15-CAE4-46C8D54965F3}"/>
              </a:ext>
            </a:extLst>
          </p:cNvPr>
          <p:cNvSpPr>
            <a:spLocks noGrp="1"/>
          </p:cNvSpPr>
          <p:nvPr>
            <p:ph type="title"/>
          </p:nvPr>
        </p:nvSpPr>
        <p:spPr>
          <a:xfrm>
            <a:off x="867638" y="637762"/>
            <a:ext cx="7416372" cy="900131"/>
          </a:xfrm>
        </p:spPr>
        <p:txBody>
          <a:bodyPr anchor="t">
            <a:normAutofit/>
          </a:bodyPr>
          <a:lstStyle/>
          <a:p>
            <a:pPr algn="l"/>
            <a:r>
              <a:rPr lang="en-IN" sz="3500" b="0" i="0" u="none" strike="noStrike" dirty="0">
                <a:solidFill>
                  <a:schemeClr val="bg1"/>
                </a:solidFill>
                <a:effectLst/>
              </a:rPr>
              <a:t>Conclusion</a:t>
            </a:r>
            <a:endParaRPr lang="en-US" sz="35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E8B3767-4809-0A9B-689F-78A7E0BFDF90}"/>
              </a:ext>
            </a:extLst>
          </p:cNvPr>
          <p:cNvSpPr>
            <a:spLocks noGrp="1"/>
          </p:cNvSpPr>
          <p:nvPr>
            <p:ph idx="1"/>
          </p:nvPr>
        </p:nvSpPr>
        <p:spPr>
          <a:xfrm>
            <a:off x="866661" y="2217343"/>
            <a:ext cx="7410669" cy="3959619"/>
          </a:xfrm>
        </p:spPr>
        <p:txBody>
          <a:bodyPr>
            <a:normAutofit/>
          </a:bodyPr>
          <a:lstStyle/>
          <a:p>
            <a:pPr marL="0" indent="0">
              <a:buNone/>
            </a:pPr>
            <a:r>
              <a:rPr lang="en-IN" sz="2100" b="0" i="0" u="none" strike="noStrike" dirty="0">
                <a:effectLst/>
              </a:rPr>
              <a:t>This project successfully navigated through the stages of data loading, cleaning, EDA, feature engineering, and machine learning model development to predict NYC property sales prices. The comprehensive analysis provided valuable insights into the factors influencing property values in New York City.</a:t>
            </a:r>
          </a:p>
        </p:txBody>
      </p:sp>
    </p:spTree>
    <p:extLst>
      <p:ext uri="{BB962C8B-B14F-4D97-AF65-F5344CB8AC3E}">
        <p14:creationId xmlns:p14="http://schemas.microsoft.com/office/powerpoint/2010/main" val="1955727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aphic 38">
            <a:extLst>
              <a:ext uri="{FF2B5EF4-FFF2-40B4-BE49-F238E27FC236}">
                <a16:creationId xmlns:a16="http://schemas.microsoft.com/office/drawing/2014/main" id="{F0E417D8-88AA-4184-A08D-DEF97C6C9E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89346" y="1690979"/>
            <a:ext cx="1432689" cy="709660"/>
            <a:chOff x="2267504" y="2540250"/>
            <a:chExt cx="1990951" cy="739640"/>
          </a:xfrm>
          <a:solidFill>
            <a:schemeClr val="bg1"/>
          </a:solidFill>
        </p:grpSpPr>
        <p:sp>
          <p:nvSpPr>
            <p:cNvPr id="21" name="Freeform: Shape 20">
              <a:extLst>
                <a:ext uri="{FF2B5EF4-FFF2-40B4-BE49-F238E27FC236}">
                  <a16:creationId xmlns:a16="http://schemas.microsoft.com/office/drawing/2014/main" id="{FCB4E045-9FB0-41C4-AC74-479EA20D85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D21C7A48-09EB-4AF0-84CB-7EE408C2C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24" name="Rectangle 23">
            <a:extLst>
              <a:ext uri="{FF2B5EF4-FFF2-40B4-BE49-F238E27FC236}">
                <a16:creationId xmlns:a16="http://schemas.microsoft.com/office/drawing/2014/main" id="{FDDE3270-A872-4E10-80BC-B93D6F0E3F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32214" y="1187311"/>
            <a:ext cx="3817164" cy="4483379"/>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6E5F32-B5B2-45E3-9C18-BBC9005C4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32214" y="1187311"/>
            <a:ext cx="3817164" cy="448337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545E68B-E61B-4EAE-9672-3A52AEC2B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2197" y="1119679"/>
            <a:ext cx="3779606" cy="4439266"/>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1594E-30EF-F061-652B-F3D00F441B21}"/>
              </a:ext>
            </a:extLst>
          </p:cNvPr>
          <p:cNvSpPr>
            <a:spLocks noGrp="1"/>
          </p:cNvSpPr>
          <p:nvPr>
            <p:ph type="title"/>
          </p:nvPr>
        </p:nvSpPr>
        <p:spPr>
          <a:xfrm>
            <a:off x="2912091" y="1397000"/>
            <a:ext cx="3376530" cy="3008397"/>
          </a:xfrm>
        </p:spPr>
        <p:txBody>
          <a:bodyPr vert="horz" lIns="91440" tIns="45720" rIns="91440" bIns="45720" rtlCol="0" anchor="b">
            <a:normAutofit/>
          </a:bodyPr>
          <a:lstStyle/>
          <a:p>
            <a:pPr defTabSz="914400">
              <a:lnSpc>
                <a:spcPct val="90000"/>
              </a:lnSpc>
            </a:pPr>
            <a:r>
              <a:rPr lang="en-US" sz="4700" kern="1200">
                <a:solidFill>
                  <a:schemeClr val="bg1"/>
                </a:solidFill>
                <a:latin typeface="+mj-lt"/>
                <a:ea typeface="+mj-ea"/>
                <a:cs typeface="+mj-cs"/>
              </a:rPr>
              <a:t>Thank You!</a:t>
            </a:r>
          </a:p>
        </p:txBody>
      </p:sp>
      <p:sp>
        <p:nvSpPr>
          <p:cNvPr id="30" name="Graphic 212">
            <a:extLst>
              <a:ext uri="{FF2B5EF4-FFF2-40B4-BE49-F238E27FC236}">
                <a16:creationId xmlns:a16="http://schemas.microsoft.com/office/drawing/2014/main" id="{63DD1BD1-81FE-4F15-A934-E9AE94AE9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3766" y="823301"/>
            <a:ext cx="570600" cy="7608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Graphic 212">
            <a:extLst>
              <a:ext uri="{FF2B5EF4-FFF2-40B4-BE49-F238E27FC236}">
                <a16:creationId xmlns:a16="http://schemas.microsoft.com/office/drawing/2014/main" id="{120AB9A0-C0C4-43DA-9A34-FA3A4079D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3766" y="823301"/>
            <a:ext cx="570600" cy="7608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Oval 33">
            <a:extLst>
              <a:ext uri="{FF2B5EF4-FFF2-40B4-BE49-F238E27FC236}">
                <a16:creationId xmlns:a16="http://schemas.microsoft.com/office/drawing/2014/main" id="{98815DD1-EC9D-4BE1-846B-8BEF57D39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4764" y="3643495"/>
            <a:ext cx="438459" cy="584612"/>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CB78D2B9-C9C4-4A37-A12C-A09FC1158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4764" y="3643495"/>
            <a:ext cx="438459" cy="584612"/>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8" name="Graphic 4">
            <a:extLst>
              <a:ext uri="{FF2B5EF4-FFF2-40B4-BE49-F238E27FC236}">
                <a16:creationId xmlns:a16="http://schemas.microsoft.com/office/drawing/2014/main" id="{DFC7EBB5-848C-4B1C-BE84-4CF07E905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44728" y="3876466"/>
            <a:ext cx="792111" cy="1056156"/>
            <a:chOff x="5829300" y="3162300"/>
            <a:chExt cx="532256" cy="532257"/>
          </a:xfrm>
          <a:solidFill>
            <a:schemeClr val="bg1"/>
          </a:solidFill>
        </p:grpSpPr>
        <p:sp>
          <p:nvSpPr>
            <p:cNvPr id="39" name="Freeform: Shape 38">
              <a:extLst>
                <a:ext uri="{FF2B5EF4-FFF2-40B4-BE49-F238E27FC236}">
                  <a16:creationId xmlns:a16="http://schemas.microsoft.com/office/drawing/2014/main" id="{0F8315F3-A078-427A-92BE-34EC9E5747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3DFAF5C-63B0-43FB-80BE-CC45D99F5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AD937F2-A44A-479C-A7EB-4EE7686A9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7834CC3-9461-418F-A593-FC09CD79B9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D68AA1C-0667-46EE-A8BE-CAAA3EAF9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0F403B5-430A-450F-97C1-73160966C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B38EBB0-5161-46F3-83D7-D9F478B1A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47EDFA5-AD01-40BE-91A2-A0C178622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6E0C47E-FE2F-4A8C-942E-1026D02D3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A309DA7-4C25-40F5-AC21-DA06D9C98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290F5FA-D4BF-4264-A8E9-365566EC7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47FD6B5-9B47-4500-9D65-7BD217301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8CA06612-80DE-4467-A50C-0CB390D67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51927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702</TotalTime>
  <Words>474</Words>
  <Application>Microsoft Macintosh PowerPoint</Application>
  <PresentationFormat>On-screen Show (4:3)</PresentationFormat>
  <Paragraphs>71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Machine Learning Final Project</vt:lpstr>
      <vt:lpstr>Dataset Description &amp; Model Selection</vt:lpstr>
      <vt:lpstr>Load Data and Initial Overview</vt:lpstr>
      <vt:lpstr>Data Cleaning and Preprocessing</vt:lpstr>
      <vt:lpstr>Exploratory Data Analysis</vt:lpstr>
      <vt:lpstr>Exploratory Data Analysis</vt:lpstr>
      <vt:lpstr>Exploratory Data Analysis</vt:lpstr>
      <vt:lpstr>Time Series Analysis of Sales</vt:lpstr>
      <vt:lpstr>Time Series Analysis of Sales</vt:lpstr>
      <vt:lpstr>Feature Correlation with Sale Price</vt:lpstr>
      <vt:lpstr>Feature Engineering</vt:lpstr>
      <vt:lpstr>Prepare Data for Modeling</vt:lpstr>
      <vt:lpstr>Train and Evaluate Linear Regression Model</vt:lpstr>
      <vt:lpstr>Train and Evaluate Decision Tree Models</vt:lpstr>
      <vt:lpstr>Train and Evaluate Decision Tree Models</vt:lpstr>
      <vt:lpstr>Train and Evaluate Decision Tree Models</vt:lpstr>
      <vt:lpstr>Train and Evaluate Random Forest Regressor Model</vt:lpstr>
      <vt:lpstr>Train and Evaluate Random Forest Regressor Model</vt:lpstr>
      <vt:lpstr>Train and Evaluate Gradient Boosting Regressor Model</vt:lpstr>
      <vt:lpstr>Train and Evaluate Gradient Boosting Regressor Model</vt:lpstr>
      <vt:lpstr>Model Comparison and Summary</vt:lpstr>
      <vt:lpstr>Model Comparison and Summary</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Punmiya, Mr. Yogesh Mahipal</cp:lastModifiedBy>
  <cp:revision>11</cp:revision>
  <dcterms:created xsi:type="dcterms:W3CDTF">2013-01-27T09:14:16Z</dcterms:created>
  <dcterms:modified xsi:type="dcterms:W3CDTF">2025-12-18T21:51:19Z</dcterms:modified>
  <cp:category/>
</cp:coreProperties>
</file>